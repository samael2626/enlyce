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0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73968" y="3840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417320" cy="292608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85216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2E20"/>
                </a:solidFill>
                <a:latin typeface="Trebuchet MS"/>
              </a:rPr>
              <a:t>ACTIVIDAD 1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85800" y="1417320"/>
            <a:ext cx="362102" cy="263347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47902" y="1417320"/>
            <a:ext cx="362102" cy="263347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4804" y="1627997"/>
            <a:ext cx="0" cy="447691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31000" y="1627997"/>
            <a:ext cx="0" cy="447691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0143" y="1693834"/>
            <a:ext cx="65836" cy="10533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4983" y="1693834"/>
            <a:ext cx="65836" cy="10533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9824" y="1693834"/>
            <a:ext cx="65836" cy="10533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2120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300" b="1">
                <a:solidFill>
                  <a:srgbClr val="FFFFFF"/>
                </a:solidFill>
                <a:latin typeface="Georgia"/>
              </a:rPr>
              <a:t>ENLYCE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461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3EFE5"/>
                </a:solidFill>
                <a:latin typeface="Georgia"/>
              </a:rPr>
              <a:t>El CRM que evita que una micro-inmobiliaria pierda clientes por desorden.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882896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Un responsable por lead.
Una próxima acción visible.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117336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A84C"/>
                </a:solidFill>
                <a:latin typeface="Trebuchet MS"/>
              </a:rPr>
              <a:t>L&amp;C Propiedad Raíz · Medellín · Agosto de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2864" y="960120"/>
            <a:ext cx="4709160" cy="5074920"/>
          </a:xfrm>
          <a:prstGeom prst="roundRect">
            <a:avLst>
              <a:gd name="adj" fmla="val 3000"/>
            </a:avLst>
          </a:prstGeom>
          <a:solidFill>
            <a:srgbClr val="FCFAF5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2864" y="960120"/>
            <a:ext cx="749808" cy="5074920"/>
          </a:xfrm>
          <a:prstGeom prst="rect">
            <a:avLst/>
          </a:prstGeom>
          <a:solidFill>
            <a:srgbClr val="10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7095744" y="1179576"/>
            <a:ext cx="191109" cy="138988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86853" y="1179576"/>
            <a:ext cx="191110" cy="138988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37440" y="1290767"/>
            <a:ext cx="0" cy="236281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36266" y="1290767"/>
            <a:ext cx="0" cy="236281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93036" y="1325514"/>
            <a:ext cx="34747" cy="5559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1325514"/>
            <a:ext cx="34747" cy="5559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5923" y="1325514"/>
            <a:ext cx="34747" cy="5559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95744" y="2075688"/>
            <a:ext cx="393192" cy="73152"/>
          </a:xfrm>
          <a:prstGeom prst="roundRect">
            <a:avLst>
              <a:gd name="adj" fmla="val 4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2505456"/>
            <a:ext cx="393192" cy="73152"/>
          </a:xfrm>
          <a:prstGeom prst="roundRect">
            <a:avLst>
              <a:gd name="adj" fmla="val 4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95744" y="2935224"/>
            <a:ext cx="393192" cy="73152"/>
          </a:xfrm>
          <a:prstGeom prst="roundRect">
            <a:avLst>
              <a:gd name="adj" fmla="val 4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95744" y="3364991"/>
            <a:ext cx="393192" cy="73152"/>
          </a:xfrm>
          <a:prstGeom prst="roundRect">
            <a:avLst>
              <a:gd name="adj" fmla="val 4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2983" y="117957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4D2E"/>
                </a:solidFill>
                <a:latin typeface="Trebuchet MS"/>
              </a:rP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3" y="149047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2331"/>
                </a:solidFill>
                <a:latin typeface="Trebuchet MS"/>
              </a:rPr>
              <a:t>Cada lead tiene dueño y próxima acción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72983" y="1965960"/>
            <a:ext cx="809244" cy="3813048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2093976"/>
            <a:ext cx="7178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60" b="1">
                <a:solidFill>
                  <a:srgbClr val="6B7270"/>
                </a:solidFill>
                <a:latin typeface="Trebuchet MS"/>
              </a:rPr>
              <a:t>NUEVO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46136" y="2468880"/>
            <a:ext cx="66294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58733" y="2624328"/>
            <a:ext cx="237744" cy="237744"/>
          </a:xfrm>
          <a:prstGeom prst="ellipse">
            <a:avLst/>
          </a:prstGeom>
          <a:solidFill>
            <a:srgbClr val="A84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6136" y="2971800"/>
            <a:ext cx="6629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152331"/>
                </a:solidFill>
                <a:latin typeface="Trebuchet MS"/>
              </a:rPr>
              <a:t>L042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3191256"/>
            <a:ext cx="6629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6B7270"/>
                </a:solidFill>
                <a:latin typeface="Trebuchet MS"/>
              </a:rPr>
              <a:t>sin asignar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91956" y="1965960"/>
            <a:ext cx="809244" cy="3813048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37676" y="2093976"/>
            <a:ext cx="7178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60" b="1">
                <a:solidFill>
                  <a:srgbClr val="6B7270"/>
                </a:solidFill>
                <a:latin typeface="Trebuchet MS"/>
              </a:rPr>
              <a:t>CONTACTADO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5108" y="2468880"/>
            <a:ext cx="66294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77706" y="2624328"/>
            <a:ext cx="237744" cy="237744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5108" y="2971800"/>
            <a:ext cx="6629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152331"/>
                </a:solidFill>
                <a:latin typeface="Trebuchet MS"/>
              </a:rPr>
              <a:t>L043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5108" y="3191256"/>
            <a:ext cx="6629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6B7270"/>
                </a:solidFill>
                <a:latin typeface="Trebuchet MS"/>
              </a:rPr>
              <a:t>asignado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10928" y="1965960"/>
            <a:ext cx="809244" cy="3813048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6648" y="2093976"/>
            <a:ext cx="7178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60" b="1">
                <a:solidFill>
                  <a:srgbClr val="6B7270"/>
                </a:solidFill>
                <a:latin typeface="Trebuchet MS"/>
              </a:rPr>
              <a:t>VISITA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84080" y="2468880"/>
            <a:ext cx="66294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96678" y="2624328"/>
            <a:ext cx="237744" cy="237744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2971800"/>
            <a:ext cx="6629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152331"/>
                </a:solidFill>
                <a:latin typeface="Trebuchet MS"/>
              </a:rPr>
              <a:t>L044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3191256"/>
            <a:ext cx="6629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6B7270"/>
                </a:solidFill>
                <a:latin typeface="Trebuchet MS"/>
              </a:rPr>
              <a:t>asignado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29900" y="1965960"/>
            <a:ext cx="809244" cy="3813048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75620" y="2093976"/>
            <a:ext cx="7178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60" b="1">
                <a:solidFill>
                  <a:srgbClr val="6B7270"/>
                </a:solidFill>
                <a:latin typeface="Trebuchet MS"/>
              </a:rPr>
              <a:t>NEGOCIACIÓN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03052" y="2468880"/>
            <a:ext cx="66294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15650" y="2624328"/>
            <a:ext cx="237744" cy="237744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03052" y="2971800"/>
            <a:ext cx="6629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152331"/>
                </a:solidFill>
                <a:latin typeface="Trebuchet MS"/>
              </a:rPr>
              <a:t>L045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03052" y="3191256"/>
            <a:ext cx="6629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80" b="0">
                <a:solidFill>
                  <a:srgbClr val="6B7270"/>
                </a:solidFill>
                <a:latin typeface="Trebuchet MS"/>
              </a:rPr>
              <a:t>asignado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23760" y="5330952"/>
            <a:ext cx="4041648" cy="512064"/>
          </a:xfrm>
          <a:prstGeom prst="roundRect">
            <a:avLst>
              <a:gd name="adj" fmla="val 6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5468112"/>
            <a:ext cx="36758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Trebuchet MS"/>
              </a:rPr>
              <a:t>ALERTA · Lead 042 lleva 26 h sin contacto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73968" y="3840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475488"/>
            <a:ext cx="1371600" cy="292608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93776"/>
            <a:ext cx="13716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2E20"/>
                </a:solidFill>
                <a:latin typeface="Trebuchet MS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Georgia"/>
              </a:rPr>
              <a:t>El lead existe.
El proceso 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05456"/>
            <a:ext cx="4480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3EFE5"/>
                </a:solidFill>
                <a:latin typeface="Trebuchet MS"/>
              </a:rPr>
              <a:t>Cuatro asesores comparten información sin dueño ni trazabilidad.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310128"/>
            <a:ext cx="621792" cy="621792"/>
          </a:xfrm>
          <a:prstGeom prst="ellipse">
            <a:avLst/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93008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Trebuchet MS"/>
              </a:rPr>
              <a:t>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47472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3EFE5"/>
                </a:solidFill>
                <a:latin typeface="Trebuchet MS"/>
              </a:rPr>
              <a:t>WhatsApp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621024"/>
            <a:ext cx="1920240" cy="813816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87168" y="4187952"/>
            <a:ext cx="621792" cy="621792"/>
          </a:xfrm>
          <a:prstGeom prst="ellipse">
            <a:avLst/>
          </a:prstGeom>
          <a:solidFill>
            <a:srgbClr val="A84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437083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Trebuchet MS"/>
              </a:rPr>
              <a:t>XL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5254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3EFE5"/>
                </a:solidFill>
                <a:latin typeface="Trebuchet MS"/>
              </a:rPr>
              <a:t>Excel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995928" y="4434840"/>
            <a:ext cx="118872" cy="64008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96112" y="5102352"/>
            <a:ext cx="621792" cy="62179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285232"/>
            <a:ext cx="621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Trebuchet MS"/>
              </a:rPr>
              <a:t>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526694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3EFE5"/>
                </a:solidFill>
                <a:latin typeface="Trebuchet MS"/>
              </a:rPr>
              <a:t>Wasi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404872" y="4434840"/>
            <a:ext cx="1709928" cy="978408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86200" y="4187952"/>
            <a:ext cx="1024128" cy="1024128"/>
          </a:xfrm>
          <a:prstGeom prst="ellipse">
            <a:avLst/>
          </a:prstGeom>
          <a:solidFill>
            <a:srgbClr val="F3EFE5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4443984"/>
            <a:ext cx="1024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2E20"/>
                </a:solidFill>
                <a:latin typeface="Trebuchet MS"/>
              </a:rPr>
              <a:t>LEAD 042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10328" y="4700016"/>
            <a:ext cx="1618488" cy="0"/>
          </a:xfrm>
          <a:prstGeom prst="line">
            <a:avLst/>
          </a:prstGeom>
          <a:ln w="27940">
            <a:solidFill>
              <a:srgbClr val="A84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0" y="4370832"/>
            <a:ext cx="658368" cy="658368"/>
          </a:xfrm>
          <a:prstGeom prst="ellipse">
            <a:avLst/>
          </a:prstGeom>
          <a:solidFill>
            <a:srgbClr val="A84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53712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0"/>
            <a:ext cx="4800600" cy="6858000"/>
          </a:xfrm>
          <a:prstGeom prst="rect">
            <a:avLst/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3840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4D2E"/>
                </a:solidFill>
                <a:latin typeface="Trebuchet M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75895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84A3D"/>
                </a:solidFill>
                <a:latin typeface="Trebuchet MS"/>
              </a:rPr>
              <a:t>TRES FUGAS DEL NEGOCIO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1417320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9A84C"/>
                </a:solidFill>
                <a:latin typeface="Trebuchet M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1371600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2331"/>
                </a:solidFill>
                <a:latin typeface="Georgia"/>
              </a:rPr>
              <a:t>Nadie responde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1764792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70"/>
                </a:solidFill>
                <a:latin typeface="Trebuchet MS"/>
              </a:rPr>
              <a:t>El lead no tiene responsable formal.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743200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9A84C"/>
                </a:solidFill>
                <a:latin typeface="Trebuchet M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2697480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2331"/>
                </a:solidFill>
                <a:latin typeface="Georgia"/>
              </a:rPr>
              <a:t>Dos responden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3090672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70"/>
                </a:solidFill>
                <a:latin typeface="Trebuchet MS"/>
              </a:rPr>
              <a:t>El cliente recibe atención duplicada.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069080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9A84C"/>
                </a:solidFill>
                <a:latin typeface="Trebuchet M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4023360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2331"/>
                </a:solidFill>
                <a:latin typeface="Georgia"/>
              </a:rPr>
              <a:t>Nadie aprende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4416552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270"/>
                </a:solidFill>
                <a:latin typeface="Trebuchet MS"/>
              </a:rPr>
              <a:t>No existe historial para medir conversión.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623560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4A3D"/>
                </a:solidFill>
                <a:latin typeface="Trebuchet MS"/>
              </a:rPr>
              <a:t>La Ley 1581 añade una cuarta fuga: datos sin evidencia de autorización.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73968" y="3840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4D2E"/>
                </a:solidFill>
                <a:latin typeface="Trebuchet MS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411480"/>
            <a:ext cx="1353312" cy="292608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9768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2E20"/>
                </a:solidFill>
                <a:latin typeface="Trebuchet MS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8138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02E20"/>
                </a:solidFill>
                <a:latin typeface="Georgia"/>
              </a:rPr>
              <a:t>Un solo lugar. Un responsable. Cero leads invisibles.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1664" y="960120"/>
            <a:ext cx="2670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7270"/>
                </a:solidFill>
                <a:latin typeface="Trebuchet MS"/>
              </a:rPr>
              <a:t>No digitaliza el caos:
lo convierte en proceso.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11000232" cy="4279392"/>
          </a:xfrm>
          <a:prstGeom prst="roundRect">
            <a:avLst>
              <a:gd name="adj" fmla="val 3000"/>
            </a:avLst>
          </a:prstGeom>
          <a:solidFill>
            <a:srgbClr val="FCFAF5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051560" cy="4279392"/>
          </a:xfrm>
          <a:prstGeom prst="rect">
            <a:avLst/>
          </a:prstGeom>
          <a:solidFill>
            <a:srgbClr val="10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777240" y="1938528"/>
            <a:ext cx="241401" cy="175564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8641" y="1938528"/>
            <a:ext cx="241402" cy="175564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9909" y="2078979"/>
            <a:ext cx="0" cy="298461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07373" y="2078979"/>
            <a:ext cx="0" cy="298461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0135" y="2122871"/>
            <a:ext cx="43891" cy="7022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6696" y="2122871"/>
            <a:ext cx="43891" cy="7022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3256" y="2122871"/>
            <a:ext cx="43891" cy="70225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834639"/>
            <a:ext cx="612648" cy="73152"/>
          </a:xfrm>
          <a:prstGeom prst="roundRect">
            <a:avLst>
              <a:gd name="adj" fmla="val 4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264407"/>
            <a:ext cx="612648" cy="73152"/>
          </a:xfrm>
          <a:prstGeom prst="roundRect">
            <a:avLst>
              <a:gd name="adj" fmla="val 4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694175"/>
            <a:ext cx="612648" cy="73152"/>
          </a:xfrm>
          <a:prstGeom prst="roundRect">
            <a:avLst>
              <a:gd name="adj" fmla="val 4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123944"/>
            <a:ext cx="612648" cy="73152"/>
          </a:xfrm>
          <a:prstGeom prst="roundRect">
            <a:avLst>
              <a:gd name="adj" fmla="val 4000"/>
            </a:avLst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1938528"/>
            <a:ext cx="9473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4D2E"/>
                </a:solidFill>
                <a:latin typeface="Trebuchet MS"/>
              </a:rP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2249424"/>
            <a:ext cx="9473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2331"/>
                </a:solidFill>
                <a:latin typeface="Trebuchet MS"/>
              </a:rPr>
              <a:t>Cada lead tiene dueño y próxima acción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92807" y="2724912"/>
            <a:ext cx="2286000" cy="3017520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75103" y="2862072"/>
            <a:ext cx="2121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B7270"/>
                </a:solidFill>
                <a:latin typeface="Trebuchet MS"/>
              </a:rPr>
              <a:t>NUEVO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283463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>
                <a:solidFill>
                  <a:srgbClr val="1A4D2E"/>
                </a:solidFill>
                <a:latin typeface="Trebuchet MS"/>
              </a:rPr>
              <a:t>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3227832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2264" y="3392424"/>
            <a:ext cx="274320" cy="274320"/>
          </a:xfrm>
          <a:prstGeom prst="ellipse">
            <a:avLst/>
          </a:prstGeom>
          <a:solidFill>
            <a:srgbClr val="A84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3337560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358444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WhatsApp · sin asignar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023360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12264" y="4187952"/>
            <a:ext cx="274320" cy="274320"/>
          </a:xfrm>
          <a:prstGeom prst="ellipse">
            <a:avLst/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87168" y="413308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4379976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Referido · Andrés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8536" y="2724912"/>
            <a:ext cx="2286000" cy="3017520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1" y="2862072"/>
            <a:ext cx="2121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B7270"/>
                </a:solidFill>
                <a:latin typeface="Trebuchet MS"/>
              </a:rPr>
              <a:t>CONTACTADO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3463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>
                <a:solidFill>
                  <a:srgbClr val="1A4D2E"/>
                </a:solidFill>
                <a:latin typeface="Trebuchet MS"/>
              </a:rPr>
              <a:t>08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1688" y="3227832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07992" y="3392424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82896" y="3337560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358444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WhatsApp · Laura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1688" y="4023360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07992" y="4187952"/>
            <a:ext cx="274320" cy="274320"/>
          </a:xfrm>
          <a:prstGeom prst="ellipse">
            <a:avLst/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82896" y="413308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2896" y="4379976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Referido · Andrés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84264" y="2724912"/>
            <a:ext cx="2286000" cy="3017520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2862072"/>
            <a:ext cx="2121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B7270"/>
                </a:solidFill>
                <a:latin typeface="Trebuchet MS"/>
              </a:rPr>
              <a:t>VISITA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68" y="283463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>
                <a:solidFill>
                  <a:srgbClr val="1A4D2E"/>
                </a:solidFill>
                <a:latin typeface="Trebuchet MS"/>
              </a:rPr>
              <a:t>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57416" y="3227832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03720" y="3392424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8624" y="3337560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358444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WhatsApp · Samuel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57416" y="4023360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03720" y="4187952"/>
            <a:ext cx="274320" cy="274320"/>
          </a:xfrm>
          <a:prstGeom prst="ellipse">
            <a:avLst/>
          </a:prstGeom>
          <a:solidFill>
            <a:srgbClr val="1A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8624" y="413308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4379976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Referido · Andrés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79992" y="2724912"/>
            <a:ext cx="2286000" cy="3017520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62288" y="2862072"/>
            <a:ext cx="2121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>
                <a:solidFill>
                  <a:srgbClr val="6B7270"/>
                </a:solidFill>
                <a:latin typeface="Trebuchet MS"/>
              </a:rPr>
              <a:t>NEGOCIACIÓN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55096" y="283463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>
                <a:solidFill>
                  <a:srgbClr val="1A4D2E"/>
                </a:solidFill>
                <a:latin typeface="Trebuchet MS"/>
              </a:rPr>
              <a:t>02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53144" y="3227832"/>
            <a:ext cx="213969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299448" y="3392424"/>
            <a:ext cx="274320" cy="2743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74352" y="3337560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 045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4352" y="358444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7270"/>
                </a:solidFill>
                <a:latin typeface="Trebuchet MS"/>
              </a:rPr>
              <a:t>WhatsApp · Diana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627632" y="5358384"/>
            <a:ext cx="9107424" cy="448056"/>
          </a:xfrm>
          <a:prstGeom prst="roundRect">
            <a:avLst>
              <a:gd name="adj" fmla="val 4000"/>
            </a:avLst>
          </a:prstGeom>
          <a:solidFill>
            <a:srgbClr val="10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28800" y="5486400"/>
            <a:ext cx="164592" cy="16459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84832" y="546811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Trebuchet MS"/>
              </a:rPr>
              <a:t>CAPTURA</a:t>
            </a:r>
          </a:p>
        </p:txBody>
      </p:sp>
      <p:sp>
        <p:nvSpPr>
          <p:cNvPr id="65" name="Oval 64"/>
          <p:cNvSpPr/>
          <p:nvPr/>
        </p:nvSpPr>
        <p:spPr>
          <a:xfrm>
            <a:off x="3584448" y="5486400"/>
            <a:ext cx="164592" cy="16459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0" y="546811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Trebuchet MS"/>
              </a:rPr>
              <a:t>CONSENTIMIENTO</a:t>
            </a:r>
          </a:p>
        </p:txBody>
      </p:sp>
      <p:sp>
        <p:nvSpPr>
          <p:cNvPr id="67" name="Oval 66"/>
          <p:cNvSpPr/>
          <p:nvPr/>
        </p:nvSpPr>
        <p:spPr>
          <a:xfrm>
            <a:off x="5340096" y="5486400"/>
            <a:ext cx="164592" cy="16459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96128" y="546811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Trebuchet MS"/>
              </a:rPr>
              <a:t>ASIGNACIÓN</a:t>
            </a:r>
          </a:p>
        </p:txBody>
      </p:sp>
      <p:sp>
        <p:nvSpPr>
          <p:cNvPr id="69" name="Oval 68"/>
          <p:cNvSpPr/>
          <p:nvPr/>
        </p:nvSpPr>
        <p:spPr>
          <a:xfrm>
            <a:off x="7095744" y="5486400"/>
            <a:ext cx="164592" cy="16459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51775" y="546811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Trebuchet MS"/>
              </a:rPr>
              <a:t>VISITA</a:t>
            </a:r>
          </a:p>
        </p:txBody>
      </p:sp>
      <p:sp>
        <p:nvSpPr>
          <p:cNvPr id="71" name="Oval 70"/>
          <p:cNvSpPr/>
          <p:nvPr/>
        </p:nvSpPr>
        <p:spPr>
          <a:xfrm>
            <a:off x="8851392" y="5486400"/>
            <a:ext cx="164592" cy="16459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07424" y="5468112"/>
            <a:ext cx="13258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Trebuchet MS"/>
              </a:rPr>
              <a:t>CIERRE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62910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A4D2E"/>
                </a:solidFill>
                <a:latin typeface="Trebuchet MS"/>
              </a:rPr>
              <a:t>La alerta aparece antes de que el lead se pierda; la auditoría explica qué ocurrió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73968" y="3840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475488"/>
            <a:ext cx="1645920" cy="292608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2E20"/>
                </a:solidFill>
                <a:latin typeface="Trebuchet MS"/>
              </a:rPr>
              <a:t>MODELO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6400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Georgia"/>
              </a:rPr>
              <a:t>Diseñado para el espacio que otros dejan vacío.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CLIENTE IDEAL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28346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3EFE5"/>
                </a:solidFill>
                <a:latin typeface="Georgia"/>
              </a:rPr>
              <a:t>1–8 asesores
&lt; 50 inmuebles
Medellín y área metropolitana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24028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OFERTA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2578608"/>
            <a:ext cx="2944368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3EFE5"/>
                </a:solidFill>
                <a:latin typeface="Georgia"/>
              </a:rPr>
              <a:t>CRM multi-asesor
Onboarding guiado
Ley 1581 integrada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932688"/>
            <a:ext cx="4096512" cy="3063240"/>
          </a:xfrm>
          <a:prstGeom prst="roundRect">
            <a:avLst>
              <a:gd name="adj" fmla="val 4000"/>
            </a:avLst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32588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4D2E"/>
                </a:solidFill>
                <a:latin typeface="Trebuchet MS"/>
              </a:rPr>
              <a:t>EQUIPO DE 4 ASESORES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256" y="18288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02E20"/>
                </a:solidFill>
                <a:latin typeface="Georgia"/>
              </a:rPr>
              <a:t>$108.000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532888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7270"/>
                </a:solidFill>
                <a:latin typeface="Trebuchet MS"/>
              </a:rPr>
              <a:t>COP /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07238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52331"/>
                </a:solidFill>
                <a:latin typeface="Trebuchet MS"/>
              </a:rPr>
              <a:t>$89.000 base + $19.000 por asesor extra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53872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84A3D"/>
                </a:solidFill>
                <a:latin typeface="Trebuchet MS"/>
              </a:rPr>
              <a:t>Setup único: $150.000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07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POSICIONAMIENTO DE PRECIO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5084064"/>
            <a:ext cx="10305288" cy="0"/>
          </a:xfrm>
          <a:prstGeom prst="line">
            <a:avLst/>
          </a:prstGeom>
          <a:ln w="15240">
            <a:solidFill>
              <a:srgbClr val="F3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87552" y="4873752"/>
            <a:ext cx="402336" cy="402336"/>
          </a:xfrm>
          <a:prstGeom prst="ellipse">
            <a:avLst/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3EFE5"/>
                </a:solidFill>
                <a:latin typeface="Trebuchet MS"/>
              </a:rPr>
              <a:t>WASI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7790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6053328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3EFE5"/>
                </a:solidFill>
                <a:latin typeface="Trebuchet MS"/>
              </a:rPr>
              <a:t>limitado</a:t>
            </a:r>
          </a:p>
        </p:txBody>
      </p:sp>
      <p:sp>
        <p:nvSpPr>
          <p:cNvPr id="22" name="Oval 21"/>
          <p:cNvSpPr/>
          <p:nvPr/>
        </p:nvSpPr>
        <p:spPr>
          <a:xfrm>
            <a:off x="4956048" y="4873752"/>
            <a:ext cx="585216" cy="585216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55229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A84C"/>
                </a:solidFill>
                <a:latin typeface="Trebuchet MS"/>
              </a:rPr>
              <a:t>ENLYCE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57790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$108k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6053328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3EFE5"/>
                </a:solidFill>
                <a:latin typeface="Trebuchet MS"/>
              </a:rPr>
              <a:t>equipo de 4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0" y="4873752"/>
            <a:ext cx="402336" cy="402336"/>
          </a:xfrm>
          <a:prstGeom prst="ellipse">
            <a:avLst/>
          </a:prstGeom>
          <a:solidFill>
            <a:srgbClr val="F3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55229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3EFE5"/>
                </a:solidFill>
                <a:latin typeface="Trebuchet MS"/>
              </a:rPr>
              <a:t>TOKKO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7790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$313k–667k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6053328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3EFE5"/>
                </a:solidFill>
                <a:latin typeface="Trebuchet MS"/>
              </a:rPr>
              <a:t>mensual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6446520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9A84C"/>
                </a:solidFill>
                <a:latin typeface="Trebuchet MS"/>
              </a:rPr>
              <a:t>Ni gratuito sin equipo · ni suite sobredimensionada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73968" y="3840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4D2E"/>
                </a:solidFill>
                <a:latin typeface="Trebuchet MS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3504" y="420624"/>
            <a:ext cx="1298448" cy="292608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38912"/>
            <a:ext cx="1298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2E20"/>
                </a:solidFill>
                <a:latin typeface="Trebuchet MS"/>
              </a:rPr>
              <a:t>MODELADO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60120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2E20"/>
                </a:solidFill>
                <a:latin typeface="Georgia"/>
              </a:rPr>
              <a:t>Así funciona el negocio que modelé.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2139696"/>
            <a:ext cx="6665976" cy="0"/>
          </a:xfrm>
          <a:prstGeom prst="line">
            <a:avLst/>
          </a:prstGeom>
          <a:ln w="27940">
            <a:solidFill>
              <a:srgbClr val="1A4D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68096" y="1847088"/>
            <a:ext cx="585216" cy="585216"/>
          </a:xfrm>
          <a:prstGeom prst="ellipse">
            <a:avLst/>
          </a:prstGeom>
          <a:solidFill>
            <a:srgbClr val="102E20"/>
          </a:solidFill>
          <a:ln w="12700">
            <a:solidFill>
              <a:srgbClr val="102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585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A84C"/>
                </a:solidFill>
                <a:latin typeface="Trebuchet M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633472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Lead</a:t>
            </a:r>
          </a:p>
        </p:txBody>
      </p:sp>
      <p:sp>
        <p:nvSpPr>
          <p:cNvPr id="10" name="Oval 9"/>
          <p:cNvSpPr/>
          <p:nvPr/>
        </p:nvSpPr>
        <p:spPr>
          <a:xfrm>
            <a:off x="2313432" y="1847088"/>
            <a:ext cx="585216" cy="585216"/>
          </a:xfrm>
          <a:prstGeom prst="ellipse">
            <a:avLst/>
          </a:prstGeom>
          <a:solidFill>
            <a:srgbClr val="102E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029968"/>
            <a:ext cx="585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3EFE5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1" y="2633472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Consentimiento</a:t>
            </a:r>
          </a:p>
        </p:txBody>
      </p:sp>
      <p:sp>
        <p:nvSpPr>
          <p:cNvPr id="13" name="Oval 12"/>
          <p:cNvSpPr/>
          <p:nvPr/>
        </p:nvSpPr>
        <p:spPr>
          <a:xfrm>
            <a:off x="4087368" y="1847088"/>
            <a:ext cx="585216" cy="585216"/>
          </a:xfrm>
          <a:prstGeom prst="ellipse">
            <a:avLst/>
          </a:prstGeom>
          <a:solidFill>
            <a:srgbClr val="102E20"/>
          </a:solidFill>
          <a:ln w="12700">
            <a:solidFill>
              <a:srgbClr val="102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2029968"/>
            <a:ext cx="585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A84C"/>
                </a:solidFill>
                <a:latin typeface="Trebuchet M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33472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Asesor</a:t>
            </a:r>
          </a:p>
        </p:txBody>
      </p:sp>
      <p:sp>
        <p:nvSpPr>
          <p:cNvPr id="16" name="Oval 15"/>
          <p:cNvSpPr/>
          <p:nvPr/>
        </p:nvSpPr>
        <p:spPr>
          <a:xfrm>
            <a:off x="5513832" y="1847088"/>
            <a:ext cx="585216" cy="585216"/>
          </a:xfrm>
          <a:prstGeom prst="ellipse">
            <a:avLst/>
          </a:prstGeom>
          <a:solidFill>
            <a:srgbClr val="102E20"/>
          </a:solidFill>
          <a:ln w="12700">
            <a:solidFill>
              <a:srgbClr val="102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2029968"/>
            <a:ext cx="585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A84C"/>
                </a:solidFill>
                <a:latin typeface="Trebuchet M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633472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Visita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1847088"/>
            <a:ext cx="585216" cy="585216"/>
          </a:xfrm>
          <a:prstGeom prst="ellipse">
            <a:avLst/>
          </a:prstGeom>
          <a:solidFill>
            <a:srgbClr val="102E20"/>
          </a:solidFill>
          <a:ln w="12700">
            <a:solidFill>
              <a:srgbClr val="102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029968"/>
            <a:ext cx="58521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9A84C"/>
                </a:solidFill>
                <a:latin typeface="Trebuchet M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33472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52331"/>
                </a:solidFill>
                <a:latin typeface="Trebuchet MS"/>
              </a:rPr>
              <a:t>Cierre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2461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4D2E"/>
                </a:solidFill>
                <a:latin typeface="Trebuchet MS"/>
              </a:rPr>
              <a:t>ACTORES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64208" y="3319272"/>
            <a:ext cx="530352" cy="0"/>
          </a:xfrm>
          <a:prstGeom prst="line">
            <a:avLst/>
          </a:prstGeom>
          <a:ln w="19050">
            <a:solidFill>
              <a:srgbClr val="1A4D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59152" y="3218688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331"/>
                </a:solidFill>
                <a:latin typeface="Trebuchet MS"/>
              </a:rPr>
              <a:t>asesor · administrador · lead · propietario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04487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C9A84C"/>
                </a:solidFill>
                <a:latin typeface="Trebuchet MS"/>
              </a:rPr>
              <a:t>OBJETOS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64208" y="3977639"/>
            <a:ext cx="530352" cy="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59152" y="3877055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331"/>
                </a:solidFill>
                <a:latin typeface="Trebuchet MS"/>
              </a:rPr>
              <a:t>lead · inmueble · interacción · visita · consentimiento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628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A84A3D"/>
                </a:solidFill>
                <a:latin typeface="Trebuchet MS"/>
              </a:rPr>
              <a:t>REGLAS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64208" y="4636008"/>
            <a:ext cx="530352" cy="0"/>
          </a:xfrm>
          <a:prstGeom prst="line">
            <a:avLst/>
          </a:prstGeom>
          <a:ln w="19050">
            <a:solidFill>
              <a:srgbClr val="A84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59152" y="4535424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331"/>
                </a:solidFill>
                <a:latin typeface="Trebuchet MS"/>
              </a:rPr>
              <a:t>un responsable · avance controlado · baja lógica · auditoría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10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658368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9A84C"/>
                </a:solidFill>
                <a:latin typeface="Trebuchet MS"/>
              </a:rPr>
              <a:t>EVIDENCIA DEL PRODUCTO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117043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172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1353312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3EFE5"/>
                </a:solidFill>
                <a:latin typeface="Trebuchet MS"/>
              </a:rPr>
              <a:t>pruebas
en verde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331720"/>
            <a:ext cx="12984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C9A84C"/>
                </a:solidFill>
                <a:latin typeface="Georgia"/>
              </a:rPr>
              <a:t>100 %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2459736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3EFE5"/>
                </a:solidFill>
                <a:latin typeface="Trebuchet MS"/>
              </a:rPr>
              <a:t>consentimiento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58200" y="3182112"/>
            <a:ext cx="301752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58200" y="3593592"/>
            <a:ext cx="2889504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Diseñé Enlyce para que una inmobiliaria pequeña pueda trabajar con el orden de una grande, sin pagar como una grande.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623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3EFE5"/>
                </a:solidFill>
                <a:latin typeface="Trebuchet MS"/>
              </a:rPr>
              <a:t>El siguiente paso es validarlo con L&amp;C y medir respuesta, conversión y adopción.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117336"/>
            <a:ext cx="6903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84A3D"/>
                </a:solidFill>
                <a:latin typeface="Trebuchet MS"/>
              </a:rPr>
              <a:t>La regla que cruza todo: ningún lead entra sin autorización y ninguna acción desaparece sin rastro.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