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9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8229600" y="640080"/>
            <a:ext cx="3291840" cy="3291840"/>
          </a:xfrm>
          <a:prstGeom prst="arc">
            <a:avLst/>
          </a:prstGeom>
          <a:solidFill>
            <a:srgbClr val="122233"/>
          </a:solidFill>
          <a:ln w="12700">
            <a:solidFill>
              <a:srgbClr val="B49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8869680" y="1280160"/>
            <a:ext cx="2011680" cy="2011680"/>
          </a:xfrm>
          <a:prstGeom prst="arc">
            <a:avLst/>
          </a:prstGeom>
          <a:solidFill>
            <a:srgbClr val="122233"/>
          </a:solidFill>
          <a:ln w="12700">
            <a:solidFill>
              <a:srgbClr val="B49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11512" y="2788920"/>
            <a:ext cx="73152" cy="3108960"/>
          </a:xfrm>
          <a:prstGeom prst="rect">
            <a:avLst/>
          </a:prstGeom>
          <a:solidFill>
            <a:srgbClr val="B49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676656"/>
            <a:ext cx="1600200" cy="310896"/>
          </a:xfrm>
          <a:prstGeom prst="roundRect">
            <a:avLst>
              <a:gd name="adj" fmla="val 16000"/>
            </a:avLst>
          </a:prstGeom>
          <a:solidFill>
            <a:srgbClr val="B49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85800"/>
            <a:ext cx="1600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22233"/>
                </a:solidFill>
                <a:latin typeface="Calibri"/>
              </a:rPr>
              <a:t>ACTIVIDAD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FFFFFF"/>
                </a:solidFill>
                <a:latin typeface="Georgia"/>
              </a:rPr>
              <a:t>ENLYCE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23160"/>
            <a:ext cx="6995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F3EFE6"/>
                </a:solidFill>
                <a:latin typeface="Calibri"/>
              </a:rPr>
              <a:t>Modelo de negocio para un CRM inmobiliario colombiano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767328"/>
            <a:ext cx="63093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Cada lead con responsable. Cada seguimiento visible.
Cada dato personal protegido.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989320"/>
            <a:ext cx="6583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C7D0D8"/>
                </a:solidFill>
                <a:latin typeface="Calibri"/>
              </a:rPr>
              <a:t>Cliente ancla: L&amp;C Propiedad Raíz  ·  Medellín  ·  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5216" y="438912"/>
            <a:ext cx="1417320" cy="310896"/>
          </a:xfrm>
          <a:prstGeom prst="roundRect">
            <a:avLst>
              <a:gd name="adj" fmla="val 16000"/>
            </a:avLst>
          </a:prstGeom>
          <a:solidFill>
            <a:srgbClr val="B49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448056"/>
            <a:ext cx="14173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22233"/>
                </a:solidFill>
                <a:latin typeface="Calibri"/>
              </a:rPr>
              <a:t>OPORTUNIDAD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698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122233"/>
                </a:solidFill>
                <a:latin typeface="Georgia"/>
              </a:rPr>
              <a:t>El problema no es captar leads: es no perderlos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38912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49152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609344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26D75"/>
                </a:solidFill>
                <a:latin typeface="Calibri"/>
              </a:rPr>
              <a:t>L&amp;C opera con cuatro asesores, menos de 50 inmuebles y herramientas fragmentadas.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2304288"/>
            <a:ext cx="4343400" cy="749808"/>
          </a:xfrm>
          <a:prstGeom prst="roundRect">
            <a:avLst>
              <a:gd name="adj" fmla="val 8000"/>
            </a:avLst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2468880"/>
            <a:ext cx="1042415" cy="384048"/>
          </a:xfrm>
          <a:prstGeom prst="roundRect">
            <a:avLst>
              <a:gd name="adj" fmla="val 14000"/>
            </a:avLst>
          </a:prstGeom>
          <a:solidFill>
            <a:srgbClr val="1B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514600"/>
            <a:ext cx="10424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WASI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2496312"/>
            <a:ext cx="2651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F2A33"/>
                </a:solidFill>
                <a:latin typeface="Calibri"/>
              </a:rPr>
              <a:t>Un usuario compartido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3273552"/>
            <a:ext cx="4343400" cy="749808"/>
          </a:xfrm>
          <a:prstGeom prst="roundRect">
            <a:avLst>
              <a:gd name="adj" fmla="val 8000"/>
            </a:avLst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8" y="3438144"/>
            <a:ext cx="1042415" cy="384048"/>
          </a:xfrm>
          <a:prstGeom prst="roundRect">
            <a:avLst>
              <a:gd name="adj" fmla="val 14000"/>
            </a:avLst>
          </a:prstGeom>
          <a:solidFill>
            <a:srgbClr val="356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483864"/>
            <a:ext cx="10424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WHATSAPP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3392" y="3465576"/>
            <a:ext cx="2651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F2A33"/>
                </a:solidFill>
                <a:latin typeface="Calibri"/>
              </a:rPr>
              <a:t>El lead queda en un celular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" y="4242816"/>
            <a:ext cx="4343400" cy="749808"/>
          </a:xfrm>
          <a:prstGeom prst="roundRect">
            <a:avLst>
              <a:gd name="adj" fmla="val 8000"/>
            </a:avLst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8" y="4407408"/>
            <a:ext cx="1042415" cy="384048"/>
          </a:xfrm>
          <a:prstGeom prst="roundRect">
            <a:avLst>
              <a:gd name="adj" fmla="val 14000"/>
            </a:avLst>
          </a:prstGeom>
          <a:solidFill>
            <a:srgbClr val="722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453128"/>
            <a:ext cx="104241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EXCEL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93392" y="4434840"/>
            <a:ext cx="2651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F2A33"/>
                </a:solidFill>
                <a:latin typeface="Calibri"/>
              </a:rPr>
              <a:t>Sin historial ni responsable</a:t>
            </a:r>
          </a:p>
        </p:txBody>
      </p:sp>
      <p:sp>
        <p:nvSpPr>
          <p:cNvPr id="19" name="Chevron 18"/>
          <p:cNvSpPr/>
          <p:nvPr/>
        </p:nvSpPr>
        <p:spPr>
          <a:xfrm>
            <a:off x="5257800" y="2907792"/>
            <a:ext cx="658368" cy="1005840"/>
          </a:xfrm>
          <a:prstGeom prst="chevron">
            <a:avLst/>
          </a:prstGeom>
          <a:solidFill>
            <a:srgbClr val="B49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99632" y="1627632"/>
            <a:ext cx="5394960" cy="3154680"/>
          </a:xfrm>
          <a:prstGeom prst="roundRect">
            <a:avLst>
              <a:gd name="adj" fmla="val 5000"/>
            </a:avLst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1938528"/>
            <a:ext cx="4663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49152"/>
                </a:solidFill>
                <a:latin typeface="Calibri"/>
              </a:rPr>
              <a:t>EFECTO EN EL NEGOCIO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468880"/>
            <a:ext cx="44348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Georgia"/>
              </a:rPr>
              <a:t>Leads olvidados
Atención duplicada
Cero trazabilidad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114800"/>
            <a:ext cx="4434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3EFE6"/>
                </a:solidFill>
                <a:latin typeface="Calibri"/>
              </a:rPr>
              <a:t>Y sin evidencia del consentimiento exigido por la Ley 1581.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5216" y="5193792"/>
            <a:ext cx="11009376" cy="987552"/>
          </a:xfrm>
          <a:prstGeom prst="roundRect">
            <a:avLst>
              <a:gd name="adj" fmla="val 6000"/>
            </a:avLst>
          </a:prstGeom>
          <a:solidFill>
            <a:srgbClr val="356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5385816"/>
            <a:ext cx="19659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49152"/>
                </a:solidFill>
                <a:latin typeface="Calibri"/>
              </a:rPr>
              <a:t>PROPUESTA DE VALOR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16352" y="5321808"/>
            <a:ext cx="8339327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Enlyce ordena el negocio: responsable único, pipeline visible, alertas y cumplimiento integrado.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5216" y="438912"/>
            <a:ext cx="1417320" cy="310896"/>
          </a:xfrm>
          <a:prstGeom prst="roundRect">
            <a:avLst>
              <a:gd name="adj" fmla="val 16000"/>
            </a:avLst>
          </a:prstGeom>
          <a:solidFill>
            <a:srgbClr val="B49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448056"/>
            <a:ext cx="14173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22233"/>
                </a:solidFill>
                <a:latin typeface="Calibri"/>
              </a:rPr>
              <a:t>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698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122233"/>
                </a:solidFill>
                <a:latin typeface="Georgia"/>
              </a:rPr>
              <a:t>Un modelo enfocado en micro-inmobiliarias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38912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49152"/>
                </a:solidFill>
                <a:latin typeface="Calibr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627632"/>
            <a:ext cx="3401568" cy="1856231"/>
          </a:xfrm>
          <a:prstGeom prst="roundRect">
            <a:avLst>
              <a:gd name="adj" fmla="val 8000"/>
            </a:avLst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5216" y="1627632"/>
            <a:ext cx="64008" cy="1856231"/>
          </a:xfrm>
          <a:prstGeom prst="rect">
            <a:avLst/>
          </a:prstGeom>
          <a:solidFill>
            <a:srgbClr val="356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801368"/>
            <a:ext cx="29443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2233"/>
                </a:solidFill>
                <a:latin typeface="Calibri"/>
              </a:rPr>
              <a:t>Cliente ideal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194560"/>
            <a:ext cx="2944368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26D75"/>
                </a:solidFill>
                <a:latin typeface="Calibri"/>
              </a:rPr>
              <a:t>Inmobiliarias independientes de Medellín; 1–8 asesores; menos de 50 inmuebles; hoy usan WhatsApp, Excel o un CRM limitado.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9663" y="1627632"/>
            <a:ext cx="3401568" cy="1856231"/>
          </a:xfrm>
          <a:prstGeom prst="roundRect">
            <a:avLst>
              <a:gd name="adj" fmla="val 8000"/>
            </a:avLst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9663" y="1627632"/>
            <a:ext cx="64008" cy="1856231"/>
          </a:xfrm>
          <a:prstGeom prst="rect">
            <a:avLst/>
          </a:prstGeom>
          <a:solidFill>
            <a:srgbClr val="B49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801368"/>
            <a:ext cx="29443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2233"/>
                </a:solidFill>
                <a:latin typeface="Calibri"/>
              </a:rPr>
              <a:t>Valor entregado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194560"/>
            <a:ext cx="2944368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26D75"/>
                </a:solidFill>
                <a:latin typeface="Calibri"/>
              </a:rPr>
              <a:t>Multi-asesor nativo, pipeline Kanban, seguimiento automático, implantación guiada y cumplimiento de la Ley 1581.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54112" y="1627632"/>
            <a:ext cx="3840480" cy="1856231"/>
          </a:xfrm>
          <a:prstGeom prst="roundRect">
            <a:avLst>
              <a:gd name="adj" fmla="val 8000"/>
            </a:avLst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54112" y="1627632"/>
            <a:ext cx="64008" cy="1856231"/>
          </a:xfrm>
          <a:prstGeom prst="rect">
            <a:avLst/>
          </a:prstGeom>
          <a:solidFill>
            <a:srgbClr val="1B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1801368"/>
            <a:ext cx="3383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22233"/>
                </a:solidFill>
                <a:latin typeface="Calibri"/>
              </a:rPr>
              <a:t>Relación y canales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194560"/>
            <a:ext cx="3383280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26D75"/>
                </a:solidFill>
                <a:latin typeface="Calibri"/>
              </a:rPr>
              <a:t>Aplicación web, demostraciones, soporte directo por WhatsApp y correo, capacitación y crecimiento por referidos.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" y="3730752"/>
            <a:ext cx="5349240" cy="1892807"/>
          </a:xfrm>
          <a:prstGeom prst="roundRect">
            <a:avLst>
              <a:gd name="adj" fmla="val 5000"/>
            </a:avLst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402336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49152"/>
                </a:solidFill>
                <a:latin typeface="Calibri"/>
              </a:rPr>
              <a:t>INGRESOS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462272"/>
            <a:ext cx="44805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Georgia"/>
              </a:rPr>
              <a:t>$89.000 base + $19.000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965192"/>
            <a:ext cx="4526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3EFE6"/>
                </a:solidFill>
                <a:latin typeface="Calibri"/>
              </a:rPr>
              <a:t>por asesor adicional · setup único de $150.000 · complementos opcionales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730752"/>
            <a:ext cx="5394960" cy="1892807"/>
          </a:xfrm>
          <a:prstGeom prst="roundRect">
            <a:avLst>
              <a:gd name="adj" fmla="val 5000"/>
            </a:avLst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4023360"/>
            <a:ext cx="2286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6451"/>
                </a:solidFill>
                <a:latin typeface="Calibri"/>
              </a:rPr>
              <a:t>OPERACIÓN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4443984"/>
            <a:ext cx="4526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22233"/>
                </a:solidFill>
                <a:latin typeface="Georgia"/>
              </a:rPr>
              <a:t>Plataforma propia + servicio cercano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1384" y="4937760"/>
            <a:ext cx="4526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26D75"/>
                </a:solidFill>
                <a:latin typeface="Calibri"/>
              </a:rPr>
              <a:t>Costos: hosting, PostgreSQL, mensajería, correo, monitoreo y soporte.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" y="592531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722F37"/>
                </a:solidFill>
                <a:latin typeface="Calibri"/>
              </a:rPr>
              <a:t>Foco deliberado: resolver muy bien el tramo entre el CRM gratuito insuficiente y la suite costosa.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5216" y="438912"/>
            <a:ext cx="1417320" cy="310896"/>
          </a:xfrm>
          <a:prstGeom prst="roundRect">
            <a:avLst>
              <a:gd name="adj" fmla="val 16000"/>
            </a:avLst>
          </a:prstGeom>
          <a:solidFill>
            <a:srgbClr val="B49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448056"/>
            <a:ext cx="14173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22233"/>
                </a:solidFill>
                <a:latin typeface="Calibri"/>
              </a:rPr>
              <a:t>MODELADO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698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122233"/>
                </a:solidFill>
                <a:latin typeface="Georgia"/>
              </a:rPr>
              <a:t>Del primer contacto al cierre, con reglas explícitas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38912"/>
            <a:ext cx="38404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49152"/>
                </a:solidFill>
                <a:latin typeface="Calibri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627632"/>
            <a:ext cx="1883664" cy="786384"/>
          </a:xfrm>
          <a:prstGeom prst="roundRect">
            <a:avLst>
              <a:gd name="adj" fmla="val 6000"/>
            </a:avLst>
          </a:prstGeom>
          <a:solidFill>
            <a:srgbClr val="1B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56231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REGISTRO</a:t>
            </a:r>
          </a:p>
        </p:txBody>
      </p:sp>
      <p:sp>
        <p:nvSpPr>
          <p:cNvPr id="8" name="Chevron 7"/>
          <p:cNvSpPr/>
          <p:nvPr/>
        </p:nvSpPr>
        <p:spPr>
          <a:xfrm>
            <a:off x="2496312" y="1856231"/>
            <a:ext cx="256032" cy="310896"/>
          </a:xfrm>
          <a:prstGeom prst="chevron">
            <a:avLst/>
          </a:prstGeom>
          <a:solidFill>
            <a:srgbClr val="B49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07208" y="1627632"/>
            <a:ext cx="1883664" cy="786384"/>
          </a:xfrm>
          <a:prstGeom prst="roundRect">
            <a:avLst>
              <a:gd name="adj" fmla="val 6000"/>
            </a:avLst>
          </a:prstGeom>
          <a:solidFill>
            <a:srgbClr val="722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856231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CONSENTIMIENTO</a:t>
            </a:r>
          </a:p>
        </p:txBody>
      </p:sp>
      <p:sp>
        <p:nvSpPr>
          <p:cNvPr id="11" name="Chevron 10"/>
          <p:cNvSpPr/>
          <p:nvPr/>
        </p:nvSpPr>
        <p:spPr>
          <a:xfrm>
            <a:off x="4718304" y="1856231"/>
            <a:ext cx="256032" cy="310896"/>
          </a:xfrm>
          <a:prstGeom prst="chevron">
            <a:avLst/>
          </a:prstGeom>
          <a:solidFill>
            <a:srgbClr val="B49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0" y="1627632"/>
            <a:ext cx="1883664" cy="786384"/>
          </a:xfrm>
          <a:prstGeom prst="roundRect">
            <a:avLst>
              <a:gd name="adj" fmla="val 6000"/>
            </a:avLst>
          </a:prstGeom>
          <a:solidFill>
            <a:srgbClr val="B49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2352" y="1856231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ASIGNACIÓN</a:t>
            </a:r>
          </a:p>
        </p:txBody>
      </p:sp>
      <p:sp>
        <p:nvSpPr>
          <p:cNvPr id="14" name="Chevron 13"/>
          <p:cNvSpPr/>
          <p:nvPr/>
        </p:nvSpPr>
        <p:spPr>
          <a:xfrm>
            <a:off x="6940296" y="1856231"/>
            <a:ext cx="256032" cy="310896"/>
          </a:xfrm>
          <a:prstGeom prst="chevron">
            <a:avLst/>
          </a:prstGeom>
          <a:solidFill>
            <a:srgbClr val="B49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51192" y="1627632"/>
            <a:ext cx="1883664" cy="786384"/>
          </a:xfrm>
          <a:prstGeom prst="roundRect">
            <a:avLst>
              <a:gd name="adj" fmla="val 6000"/>
            </a:avLst>
          </a:prstGeom>
          <a:solidFill>
            <a:srgbClr val="356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24344" y="1856231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SEGUIMIENTO</a:t>
            </a:r>
          </a:p>
        </p:txBody>
      </p:sp>
      <p:sp>
        <p:nvSpPr>
          <p:cNvPr id="17" name="Chevron 16"/>
          <p:cNvSpPr/>
          <p:nvPr/>
        </p:nvSpPr>
        <p:spPr>
          <a:xfrm>
            <a:off x="9162288" y="1856231"/>
            <a:ext cx="256032" cy="310896"/>
          </a:xfrm>
          <a:prstGeom prst="chevron">
            <a:avLst/>
          </a:prstGeom>
          <a:solidFill>
            <a:srgbClr val="B49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473184" y="1627632"/>
            <a:ext cx="1883664" cy="786384"/>
          </a:xfrm>
          <a:prstGeom prst="roundRect">
            <a:avLst>
              <a:gd name="adj" fmla="val 6000"/>
            </a:avLst>
          </a:prstGeom>
          <a:solidFill>
            <a:srgbClr val="1B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46336" y="1856231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Calibri"/>
              </a:rPr>
              <a:t>CIERRE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" y="2816352"/>
            <a:ext cx="3456432" cy="1481328"/>
          </a:xfrm>
          <a:prstGeom prst="roundRect">
            <a:avLst>
              <a:gd name="adj" fmla="val 8000"/>
            </a:avLst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5216" y="2816352"/>
            <a:ext cx="64008" cy="1481328"/>
          </a:xfrm>
          <a:prstGeom prst="rect">
            <a:avLst/>
          </a:prstGeom>
          <a:solidFill>
            <a:srgbClr val="3564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" y="2990088"/>
            <a:ext cx="29992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22233"/>
                </a:solidFill>
                <a:latin typeface="Calibri"/>
              </a:rPr>
              <a:t>ACTORES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3383280"/>
            <a:ext cx="2999232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626D75"/>
                </a:solidFill>
                <a:latin typeface="Calibri"/>
              </a:rPr>
              <a:t>Asesor · administrador · lead · propietario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61103" y="2816352"/>
            <a:ext cx="3456432" cy="1481328"/>
          </a:xfrm>
          <a:prstGeom prst="roundRect">
            <a:avLst>
              <a:gd name="adj" fmla="val 8000"/>
            </a:avLst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3" y="2816352"/>
            <a:ext cx="64008" cy="1481328"/>
          </a:xfrm>
          <a:prstGeom prst="rect">
            <a:avLst/>
          </a:prstGeom>
          <a:solidFill>
            <a:srgbClr val="B49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2990088"/>
            <a:ext cx="29992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22233"/>
                </a:solidFill>
                <a:latin typeface="Calibri"/>
              </a:rPr>
              <a:t>OBJETOS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7992" y="3383280"/>
            <a:ext cx="2999232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626D75"/>
                </a:solidFill>
                <a:latin typeface="Calibri"/>
              </a:rPr>
              <a:t>Lead · inmueble · interacción · visita · consentimiento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36992" y="2816352"/>
            <a:ext cx="3456432" cy="1481328"/>
          </a:xfrm>
          <a:prstGeom prst="roundRect">
            <a:avLst>
              <a:gd name="adj" fmla="val 8000"/>
            </a:avLst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36992" y="2816352"/>
            <a:ext cx="64008" cy="1481328"/>
          </a:xfrm>
          <a:prstGeom prst="rect">
            <a:avLst/>
          </a:prstGeom>
          <a:solidFill>
            <a:srgbClr val="722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2990088"/>
            <a:ext cx="29992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22233"/>
                </a:solidFill>
                <a:latin typeface="Calibri"/>
              </a:rPr>
              <a:t>REGLAS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3383280"/>
            <a:ext cx="2999232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626D75"/>
                </a:solidFill>
                <a:latin typeface="Calibri"/>
              </a:rPr>
              <a:t>Un responsable · avance controlado · baja lógica · auditoría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5216" y="4645152"/>
            <a:ext cx="11009376" cy="1197864"/>
          </a:xfrm>
          <a:prstGeom prst="roundRect">
            <a:avLst>
              <a:gd name="adj" fmla="val 5000"/>
            </a:avLst>
          </a:prstGeom>
          <a:solidFill>
            <a:srgbClr val="1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4882896"/>
            <a:ext cx="187451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49152"/>
                </a:solidFill>
                <a:latin typeface="Calibri"/>
              </a:rPr>
              <a:t>REGLA TRANSVERSAL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4782312"/>
            <a:ext cx="833932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Calibri"/>
              </a:rPr>
              <a:t>Ningún lead se crea sin autorización previa, expresa e informada; toda operación queda auditada.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" y="6053328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26D75"/>
                </a:solidFill>
                <a:latin typeface="Calibri"/>
              </a:rPr>
              <a:t>Los procesos se vuelven casos de uso; las reglas viven en el dominio; los objetos se persisten con trazabilidad.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02920"/>
            <a:ext cx="1280160" cy="310896"/>
          </a:xfrm>
          <a:prstGeom prst="roundRect">
            <a:avLst>
              <a:gd name="adj" fmla="val 16000"/>
            </a:avLst>
          </a:prstGeom>
          <a:solidFill>
            <a:srgbClr val="B49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12064"/>
            <a:ext cx="12801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22233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640080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Georgia"/>
              </a:rPr>
              <a:t>Un negocio pequeño no necesita un CRM pequeño.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47672"/>
            <a:ext cx="62636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3EFE6"/>
                </a:solidFill>
                <a:latin typeface="Calibri"/>
              </a:rPr>
              <a:t>Necesita uno enfocado: simple de adoptar, difícil de ignorar y preparado para cumplir.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999232"/>
            <a:ext cx="1956816" cy="1463040"/>
          </a:xfrm>
          <a:prstGeom prst="roundRect">
            <a:avLst>
              <a:gd name="adj" fmla="val 6000"/>
            </a:avLst>
          </a:prstGeom>
          <a:solidFill>
            <a:srgbClr val="1B3046"/>
          </a:solidFill>
          <a:ln w="12700">
            <a:solidFill>
              <a:srgbClr val="B49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218688"/>
            <a:ext cx="195681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B49152"/>
                </a:solidFill>
                <a:latin typeface="Georgia"/>
              </a:rPr>
              <a:t>172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813048"/>
            <a:ext cx="1737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F3EFE6"/>
                </a:solidFill>
                <a:latin typeface="Calibri"/>
              </a:rPr>
              <a:t>pruebas automatizadas
en verde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71215" y="2999232"/>
            <a:ext cx="1956816" cy="1463040"/>
          </a:xfrm>
          <a:prstGeom prst="roundRect">
            <a:avLst>
              <a:gd name="adj" fmla="val 6000"/>
            </a:avLst>
          </a:prstGeom>
          <a:solidFill>
            <a:srgbClr val="1B3046"/>
          </a:solidFill>
          <a:ln w="12700">
            <a:solidFill>
              <a:srgbClr val="B49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71215" y="3218688"/>
            <a:ext cx="195681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B49152"/>
                </a:solidFill>
                <a:latin typeface="Georg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3813048"/>
            <a:ext cx="1737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F3EFE6"/>
                </a:solidFill>
                <a:latin typeface="Calibri"/>
              </a:rPr>
              <a:t>capas de arquitectura
limpia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2999232"/>
            <a:ext cx="1956816" cy="1463040"/>
          </a:xfrm>
          <a:prstGeom prst="roundRect">
            <a:avLst>
              <a:gd name="adj" fmla="val 6000"/>
            </a:avLst>
          </a:prstGeom>
          <a:solidFill>
            <a:srgbClr val="1B3046"/>
          </a:solidFill>
          <a:ln w="12700">
            <a:solidFill>
              <a:srgbClr val="B491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4064" y="3218688"/>
            <a:ext cx="195681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B49152"/>
                </a:solidFill>
                <a:latin typeface="Georgia"/>
              </a:rPr>
              <a:t>100 %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3813048"/>
            <a:ext cx="1737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F3EFE6"/>
                </a:solidFill>
                <a:latin typeface="Calibri"/>
              </a:rPr>
              <a:t>consentimiento exigido
por diseño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1051560"/>
            <a:ext cx="3803904" cy="4544568"/>
          </a:xfrm>
          <a:prstGeom prst="roundRect">
            <a:avLst>
              <a:gd name="adj" fmla="val 4000"/>
            </a:avLst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74152" y="1426464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56451"/>
                </a:solidFill>
                <a:latin typeface="Calibri"/>
              </a:rPr>
              <a:t>SIGUIENTE VALIDACIÓN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1901952"/>
            <a:ext cx="290779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22233"/>
                </a:solidFill>
                <a:latin typeface="Georgia"/>
              </a:rPr>
              <a:t>L&amp;C operando con datos reales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2" y="2660904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49152"/>
                </a:solidFill>
                <a:latin typeface="Calibri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633472"/>
            <a:ext cx="2514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F2A33"/>
                </a:solidFill>
                <a:latin typeface="Calibri"/>
              </a:rPr>
              <a:t>50+ leads registrados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3236976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49152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3209544"/>
            <a:ext cx="2514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F2A33"/>
                </a:solidFill>
                <a:latin typeface="Calibri"/>
              </a:rPr>
              <a:t>Primera respuesta &lt; 2 horas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3813048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49152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785615"/>
            <a:ext cx="2514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F2A33"/>
                </a:solidFill>
                <a:latin typeface="Calibri"/>
              </a:rPr>
              <a:t>100 % con consentimiento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74152" y="4389120"/>
            <a:ext cx="3840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B49152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4361688"/>
            <a:ext cx="2514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F2A33"/>
                </a:solidFill>
                <a:latin typeface="Calibri"/>
              </a:rPr>
              <a:t>Disponibilidad &gt; 99 %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806440"/>
            <a:ext cx="6492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Calibri"/>
              </a:rPr>
              <a:t>Enlyce convierte desorden comercial en procesos, responsables y evidencia.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291072"/>
            <a:ext cx="6492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B49152"/>
                </a:solidFill>
                <a:latin typeface="Calibri"/>
              </a:rPr>
              <a:t>Actividad 1 · Modelo de negocio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