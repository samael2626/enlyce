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6400" b="1">
                <a:solidFill>
                  <a:srgbClr val="B8960C"/>
                </a:solidFill>
                <a:latin typeface="Georgia"/>
              </a:defRPr>
            </a:pPr>
            <a:r>
              <a:t>Enlyce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Georgia"/>
              </a:defRPr>
            </a:pPr>
            <a:r>
              <a:t>CRM Inmobiliario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3383280"/>
            <a:ext cx="2103120" cy="27432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600" b="0">
                <a:solidFill>
                  <a:srgbClr val="E8E0CC"/>
                </a:solidFill>
                <a:latin typeface="Calibri"/>
              </a:defRPr>
            </a:pPr>
            <a:r>
              <a:t>Ingenieria de Software — Actividad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400" b="0">
                <a:solidFill>
                  <a:srgbClr val="64748B"/>
                </a:solidFill>
                <a:latin typeface="Calibri"/>
              </a:defRPr>
            </a:pPr>
            <a:r>
              <a:t>Modelo de Negocio y Presentacion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3035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400" b="0">
                <a:solidFill>
                  <a:srgbClr val="64748B"/>
                </a:solidFill>
                <a:latin typeface="Calibri"/>
              </a:defRPr>
            </a:pPr>
            <a:r>
              <a:t>Agosto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8B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Georgia"/>
              </a:defRPr>
            </a:pPr>
            <a: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0">
                <a:solidFill>
                  <a:srgbClr val="E8E0CC"/>
                </a:solidFill>
                <a:latin typeface="Calibri"/>
              </a:defRPr>
            </a:pPr>
            <a:r>
              <a:t>L&amp;C Propiedad Raiz opera sin herramientas adecuadas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46888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9202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4200" b="1">
                <a:solidFill>
                  <a:srgbClr val="8B2635"/>
                </a:solidFill>
                <a:latin typeface="Georgia"/>
              </a:defRPr>
            </a:pPr>
            <a: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19202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300" b="0">
                <a:solidFill>
                  <a:srgbClr val="64748B"/>
                </a:solidFill>
                <a:latin typeface="Calibri"/>
              </a:defRPr>
            </a:pPr>
            <a:r>
              <a:t>CRM multi-agente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645920"/>
            <a:ext cx="246888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1828800"/>
            <a:ext cx="19202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4200" b="1">
                <a:solidFill>
                  <a:srgbClr val="8B2635"/>
                </a:solidFill>
                <a:latin typeface="Georgia"/>
              </a:defRPr>
            </a:pPr>
            <a: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560320"/>
            <a:ext cx="19202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300" b="0">
                <a:solidFill>
                  <a:srgbClr val="64748B"/>
                </a:solidFill>
                <a:latin typeface="Calibri"/>
              </a:defRPr>
            </a:pPr>
            <a:r>
              <a:t>Pipeline visual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246888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828800"/>
            <a:ext cx="19202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4200" b="1">
                <a:solidFill>
                  <a:srgbClr val="8B2635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560320"/>
            <a:ext cx="19202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300" b="0">
                <a:solidFill>
                  <a:srgbClr val="64748B"/>
                </a:solidFill>
                <a:latin typeface="Calibri"/>
              </a:defRPr>
            </a:pPr>
            <a:r>
              <a:t>Usuario en Wasi (gratis)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1645920"/>
            <a:ext cx="246888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1828800"/>
            <a:ext cx="19202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4200" b="1">
                <a:solidFill>
                  <a:srgbClr val="8B2635"/>
                </a:solidFill>
                <a:latin typeface="Georgia"/>
              </a:defRPr>
            </a:pPr>
            <a: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560320"/>
            <a:ext cx="19202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300" b="0">
                <a:solidFill>
                  <a:srgbClr val="64748B"/>
                </a:solidFill>
                <a:latin typeface="Calibri"/>
              </a:defRPr>
            </a:pPr>
            <a:r>
              <a:t>Leads sin seguimiento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65760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Sin asignacion de leads a asesores especificos — cualquier asesor responde al mismo cliente</a:t>
            </a:r>
          </a:p>
          <a:p>
            <a:pPr>
              <a:spcAft>
                <a:spcPts val="600"/>
              </a:spcAft>
              <a:defRPr sz="14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Sin pipeline de ventas — no hay flujo Contacto -&gt; Visita -&gt; Propuesta -&gt; Cierre</a:t>
            </a:r>
          </a:p>
          <a:p>
            <a:pPr>
              <a:spcAft>
                <a:spcPts val="600"/>
              </a:spcAft>
              <a:defRPr sz="14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Sin cumplimiento automatizado de la Ley 1581/2012 de proteccion de datos</a:t>
            </a:r>
          </a:p>
          <a:p>
            <a:pPr>
              <a:spcAft>
                <a:spcPts val="600"/>
              </a:spcAft>
              <a:defRPr sz="14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Sin visibilidad de productividad individual por asesor</a:t>
            </a:r>
          </a:p>
          <a:p>
            <a:pPr>
              <a:spcAft>
                <a:spcPts val="600"/>
              </a:spcAft>
              <a:defRPr sz="14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WhatsApp como herramienta principal — leads perdidos entre conversaciones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8B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Georgia"/>
              </a:defRPr>
            </a:pPr>
            <a:r>
              <a:t>La Solucion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0">
                <a:solidFill>
                  <a:srgbClr val="E8E0CC"/>
                </a:solidFill>
                <a:latin typeface="Calibri"/>
              </a:defRPr>
            </a:pPr>
            <a:r>
              <a:t>Enlyce — CRM disenado para micro-inmobiliarias colombianas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3832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4864" cy="1828800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800" b="1">
                <a:solidFill>
                  <a:srgbClr val="1B2A4A"/>
                </a:solidFill>
                <a:latin typeface="Georgia"/>
              </a:defRPr>
            </a:pPr>
            <a:r>
              <a:t>Pipeline Kanban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300" b="0">
                <a:solidFill>
                  <a:srgbClr val="64748B"/>
                </a:solidFill>
                <a:latin typeface="Calibri"/>
              </a:defRPr>
            </a:pPr>
            <a:r>
              <a:t>Tablero visual con etapas configurables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645920"/>
            <a:ext cx="33832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645920"/>
            <a:ext cx="54864" cy="1828800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82880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800" b="1">
                <a:solidFill>
                  <a:srgbClr val="1B2A4A"/>
                </a:solidFill>
                <a:latin typeface="Georgia"/>
              </a:defRPr>
            </a:pPr>
            <a:r>
              <a:t>Multi-Agente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37744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300" b="0">
                <a:solidFill>
                  <a:srgbClr val="64748B"/>
                </a:solidFill>
                <a:latin typeface="Calibri"/>
              </a:defRPr>
            </a:pPr>
            <a:r>
              <a:t>Asignacion automatica de leads a asesores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645920"/>
            <a:ext cx="33832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1645920"/>
            <a:ext cx="54864" cy="1828800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182880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800" b="1">
                <a:solidFill>
                  <a:srgbClr val="1B2A4A"/>
                </a:solidFill>
                <a:latin typeface="Georgia"/>
              </a:defRPr>
            </a:pPr>
            <a:r>
              <a:t>Ley 1581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37744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300" b="0">
                <a:solidFill>
                  <a:srgbClr val="64748B"/>
                </a:solidFill>
                <a:latin typeface="Calibri"/>
              </a:defRPr>
            </a:pPr>
            <a:r>
              <a:t>Autorizacion previa y registro RNBD integrado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931920"/>
            <a:ext cx="33832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931920"/>
            <a:ext cx="54864" cy="1828800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11480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800" b="1">
                <a:solidFill>
                  <a:srgbClr val="1B2A4A"/>
                </a:solidFill>
                <a:latin typeface="Georgia"/>
              </a:defRPr>
            </a:pPr>
            <a:r>
              <a:t>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66344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300" b="0">
                <a:solidFill>
                  <a:srgbClr val="64748B"/>
                </a:solidFill>
                <a:latin typeface="Calibri"/>
              </a:defRPr>
            </a:pPr>
            <a:r>
              <a:t>Metricas de productividad por asesor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59" y="3931920"/>
            <a:ext cx="33832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59" y="3931920"/>
            <a:ext cx="54864" cy="1828800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79" y="411480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800" b="1">
                <a:solidFill>
                  <a:srgbClr val="1B2A4A"/>
                </a:solidFill>
                <a:latin typeface="Georgia"/>
              </a:defRPr>
            </a:pPr>
            <a:r>
              <a:t>Inmuebles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79" y="466344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300" b="0">
                <a:solidFill>
                  <a:srgbClr val="64748B"/>
                </a:solidFill>
                <a:latin typeface="Calibri"/>
              </a:defRPr>
            </a:pPr>
            <a:r>
              <a:t>Catalogo con fotos, precio y ubicacion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931920"/>
            <a:ext cx="33832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3931920"/>
            <a:ext cx="54864" cy="1828800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0" y="411480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800" b="1">
                <a:solidFill>
                  <a:srgbClr val="1B2A4A"/>
                </a:solidFill>
                <a:latin typeface="Georgia"/>
              </a:defRPr>
            </a:pPr>
            <a:r>
              <a:t>Notificaciones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466344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300" b="0">
                <a:solidFill>
                  <a:srgbClr val="64748B"/>
                </a:solidFill>
                <a:latin typeface="Calibri"/>
              </a:defRPr>
            </a:pPr>
            <a:r>
              <a:t>Alertas por lead nuevo y seguimiento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8B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Georgia"/>
              </a:defRPr>
            </a:pPr>
            <a:r>
              <a:t>Demo Tecnica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0">
                <a:solidFill>
                  <a:srgbClr val="E8E0CC"/>
                </a:solidFill>
                <a:latin typeface="Calibri"/>
              </a:defRPr>
            </a:pPr>
            <a:r>
              <a:t>Arquitectura Clean / Hexagonal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1463040"/>
            <a:ext cx="4572000" cy="914400"/>
          </a:xfrm>
          <a:prstGeom prst="rect">
            <a:avLst/>
          </a:prstGeom>
          <a:solidFill>
            <a:srgbClr val="8B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155448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Georgia"/>
              </a:defRPr>
            </a:pPr>
            <a:r>
              <a:t>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920240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100" b="0">
                <a:solidFill>
                  <a:srgbClr val="E8E0CC"/>
                </a:solidFill>
                <a:latin typeface="Calibri"/>
              </a:defRPr>
            </a:pPr>
            <a:r>
              <a:t>Minimal API + Controllers</a:t>
            </a:r>
            <a:br/>
            <a:r>
              <a:t>Endpoints REST, JWT Auth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2560320"/>
            <a:ext cx="457200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26517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Georgia"/>
              </a:defRPr>
            </a:pPr>
            <a:r>
              <a:t>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017520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100" b="0">
                <a:solidFill>
                  <a:srgbClr val="E8E0CC"/>
                </a:solidFill>
                <a:latin typeface="Calibri"/>
              </a:defRPr>
            </a:pPr>
            <a:r>
              <a:t>Use Cases + DTOs</a:t>
            </a:r>
            <a:br/>
            <a:r>
              <a:t>CQRS manual, FluentValidation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3657600"/>
            <a:ext cx="4572000" cy="914400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490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Georgia"/>
              </a:defRPr>
            </a:pPr>
            <a: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114800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100" b="0">
                <a:solidFill>
                  <a:srgbClr val="E8E0CC"/>
                </a:solidFill>
                <a:latin typeface="Calibri"/>
              </a:defRPr>
            </a:pPr>
            <a:r>
              <a:t>Entities + Value Objects + Ports</a:t>
            </a:r>
            <a:br/>
            <a:r>
              <a:t>Cero dependencias externas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4754880"/>
            <a:ext cx="4572000" cy="914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484632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Georgia"/>
              </a:defRPr>
            </a:pPr>
            <a:r>
              <a:t>Infrastructure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212080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100" b="0">
                <a:solidFill>
                  <a:srgbClr val="E8E0CC"/>
                </a:solidFill>
                <a:latin typeface="Calibri"/>
              </a:defRPr>
            </a:pPr>
            <a:r>
              <a:t>EF Core + PostgreSQL</a:t>
            </a:r>
            <a:br/>
            <a:r>
              <a:t>Adaptadores: Email, WhatsApp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0" y="2377440"/>
            <a:ext cx="182880" cy="182880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23360" y="3474720"/>
            <a:ext cx="182880" cy="182880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0" y="4572000"/>
            <a:ext cx="182880" cy="182880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64592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2000" b="1">
                <a:solidFill>
                  <a:srgbClr val="1B2A4A"/>
                </a:solidFill>
                <a:latin typeface="Georgia"/>
              </a:defRPr>
            </a:pPr>
            <a:r>
              <a:t>Stack Tecnico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19456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1B18"/>
                </a:solidFill>
                <a:latin typeface="Calibri"/>
              </a:defRPr>
              <a:buChar char="•"/>
              <a:buClr>
                <a:srgbClr val="1B2A4A"/>
              </a:buClr>
            </a:pPr>
            <a:r>
              <a:t>Backend: ASP.NET Core 10 Minimal API</a:t>
            </a:r>
          </a:p>
          <a:p>
            <a:pPr>
              <a:spcAft>
                <a:spcPts val="600"/>
              </a:spcAft>
              <a:defRPr sz="1300">
                <a:solidFill>
                  <a:srgbClr val="1E1B18"/>
                </a:solidFill>
                <a:latin typeface="Calibri"/>
              </a:defRPr>
              <a:buChar char="•"/>
              <a:buClr>
                <a:srgbClr val="1B2A4A"/>
              </a:buClr>
            </a:pPr>
            <a:r>
              <a:t>ORM: Entity Framework Core + Fluent API</a:t>
            </a:r>
          </a:p>
          <a:p>
            <a:pPr>
              <a:spcAft>
                <a:spcPts val="600"/>
              </a:spcAft>
              <a:defRPr sz="1300">
                <a:solidFill>
                  <a:srgbClr val="1E1B18"/>
                </a:solidFill>
                <a:latin typeface="Calibri"/>
              </a:defRPr>
              <a:buChar char="•"/>
              <a:buClr>
                <a:srgbClr val="1B2A4A"/>
              </a:buClr>
            </a:pPr>
            <a:r>
              <a:t>BD: PostgreSQL (Npgsql)</a:t>
            </a:r>
          </a:p>
          <a:p>
            <a:pPr>
              <a:spcAft>
                <a:spcPts val="600"/>
              </a:spcAft>
              <a:defRPr sz="1300">
                <a:solidFill>
                  <a:srgbClr val="1E1B18"/>
                </a:solidFill>
                <a:latin typeface="Calibri"/>
              </a:defRPr>
              <a:buChar char="•"/>
              <a:buClr>
                <a:srgbClr val="1B2A4A"/>
              </a:buClr>
            </a:pPr>
            <a:r>
              <a:t>Frontend: React + Vite</a:t>
            </a:r>
          </a:p>
          <a:p>
            <a:pPr>
              <a:spcAft>
                <a:spcPts val="600"/>
              </a:spcAft>
              <a:defRPr sz="1300">
                <a:solidFill>
                  <a:srgbClr val="1E1B18"/>
                </a:solidFill>
                <a:latin typeface="Calibri"/>
              </a:defRPr>
              <a:buChar char="•"/>
              <a:buClr>
                <a:srgbClr val="1B2A4A"/>
              </a:buClr>
            </a:pPr>
            <a:r>
              <a:t>Tests: xUnit + NSubstitute</a:t>
            </a:r>
          </a:p>
          <a:p>
            <a:pPr>
              <a:spcAft>
                <a:spcPts val="600"/>
              </a:spcAft>
              <a:defRPr sz="1300">
                <a:solidFill>
                  <a:srgbClr val="1E1B18"/>
                </a:solidFill>
                <a:latin typeface="Calibri"/>
              </a:defRPr>
              <a:buChar char="•"/>
              <a:buClr>
                <a:srgbClr val="1B2A4A"/>
              </a:buClr>
            </a:pPr>
            <a:r>
              <a:t>Validacion: FluentValidation</a:t>
            </a:r>
          </a:p>
          <a:p>
            <a:pPr>
              <a:spcAft>
                <a:spcPts val="600"/>
              </a:spcAft>
              <a:defRPr sz="1300">
                <a:solidFill>
                  <a:srgbClr val="1E1B18"/>
                </a:solidFill>
                <a:latin typeface="Calibri"/>
              </a:defRPr>
              <a:buChar char="•"/>
              <a:buClr>
                <a:srgbClr val="1B2A4A"/>
              </a:buClr>
            </a:pPr>
            <a:r>
              <a:t>Auth: JWT Bearer</a:t>
            </a:r>
          </a:p>
          <a:p>
            <a:pPr>
              <a:spcAft>
                <a:spcPts val="600"/>
              </a:spcAft>
              <a:defRPr sz="1300">
                <a:solidFill>
                  <a:srgbClr val="1E1B18"/>
                </a:solidFill>
                <a:latin typeface="Calibri"/>
              </a:defRPr>
              <a:buChar char="•"/>
              <a:buClr>
                <a:srgbClr val="1B2A4A"/>
              </a:buClr>
            </a:pPr>
            <a:r>
              <a:t>Deploy: Azure App Service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8B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Georgia"/>
              </a:defRPr>
            </a:pPr>
            <a:r>
              <a:t>Analisis Competitivo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0">
                <a:solidFill>
                  <a:srgbClr val="E8E0CC"/>
                </a:solidFill>
                <a:latin typeface="Calibri"/>
              </a:defRPr>
            </a:pPr>
            <a:r>
              <a:t>Comparativa con soluciones existentes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71700"/>
                <a:gridCol w="2171700"/>
                <a:gridCol w="2171700"/>
                <a:gridCol w="2171700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Factor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Enlyce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Wasi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Tokko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Witei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Multi-agente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B2635"/>
                          </a:solidFill>
                          <a:latin typeface="Calibri"/>
                        </a:defRPr>
                      </a:pPr>
                      <a:r>
                        <a:t>Si (core)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No (1 usuario)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Si (costoso)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Setup</a:t>
                      </a:r>
                    </a:p>
                  </a:txBody>
                  <a:tcPr>
                    <a:solidFill>
                      <a:srgbClr val="EDE8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B2635"/>
                          </a:solidFill>
                          <a:latin typeface="Calibri"/>
                        </a:defRPr>
                      </a:pPr>
                      <a:r>
                        <a:t>&lt; 24 horas</a:t>
                      </a:r>
                    </a:p>
                  </a:txBody>
                  <a:tcPr>
                    <a:solidFill>
                      <a:srgbClr val="EDE8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Inmediato</a:t>
                      </a:r>
                    </a:p>
                  </a:txBody>
                  <a:tcPr>
                    <a:solidFill>
                      <a:srgbClr val="EDE8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1-2 semanas</a:t>
                      </a:r>
                    </a:p>
                  </a:txBody>
                  <a:tcPr>
                    <a:solidFill>
                      <a:srgbClr val="EDE8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Dias</a:t>
                      </a:r>
                    </a:p>
                  </a:txBody>
                  <a:tcPr>
                    <a:solidFill>
                      <a:srgbClr val="EDE8D5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Ley 1581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B2635"/>
                          </a:solidFill>
                          <a:latin typeface="Calibri"/>
                        </a:defRPr>
                      </a:pPr>
                      <a:r>
                        <a:t>Integrado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Parcial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Precio (4 ases.)</a:t>
                      </a:r>
                    </a:p>
                  </a:txBody>
                  <a:tcPr>
                    <a:solidFill>
                      <a:srgbClr val="EDE8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B2635"/>
                          </a:solidFill>
                          <a:latin typeface="Calibri"/>
                        </a:defRPr>
                      </a:pPr>
                      <a:r>
                        <a:t>~$158k/mes</a:t>
                      </a:r>
                    </a:p>
                  </a:txBody>
                  <a:tcPr>
                    <a:solidFill>
                      <a:srgbClr val="EDE8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Gratis (limitado)</a:t>
                      </a:r>
                    </a:p>
                  </a:txBody>
                  <a:tcPr>
                    <a:solidFill>
                      <a:srgbClr val="EDE8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$313k-$667k/mes</a:t>
                      </a:r>
                    </a:p>
                  </a:txBody>
                  <a:tcPr>
                    <a:solidFill>
                      <a:srgbClr val="EDE8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EUR 25-65/mes</a:t>
                      </a:r>
                    </a:p>
                  </a:txBody>
                  <a:tcPr>
                    <a:solidFill>
                      <a:srgbClr val="EDE8D5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Pipeline Kanban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B2635"/>
                          </a:solidFill>
                          <a:latin typeface="Calibri"/>
                        </a:defRPr>
                      </a:pPr>
                      <a:r>
                        <a:t>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1B18"/>
                          </a:solidFill>
                          <a:latin typeface="Calibri"/>
                        </a:defRPr>
                      </a:pPr>
                      <a:r>
                        <a:t>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8B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Georgia"/>
              </a:defRPr>
            </a:pPr>
            <a:r>
              <a:t>Modelo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0">
                <a:solidFill>
                  <a:srgbClr val="E8E0CC"/>
                </a:solidFill>
                <a:latin typeface="Calibri"/>
              </a:defRPr>
            </a:pPr>
            <a:r>
              <a:t>Business Model Canvas — Enlyce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103120" cy="45720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0020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100" b="1">
                <a:solidFill>
                  <a:srgbClr val="1B2A4A"/>
                </a:solidFill>
                <a:latin typeface="Georgia"/>
              </a:defRPr>
            </a:pPr>
            <a:r>
              <a:t>Socios Clave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182880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000" b="0">
                <a:solidFill>
                  <a:srgbClr val="1E1B18"/>
                </a:solidFill>
                <a:latin typeface="Calibri"/>
              </a:defRPr>
            </a:pPr>
            <a:r>
              <a:t>Azure, Meta, PostgreSQL, LYC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46304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463040"/>
            <a:ext cx="2103120" cy="45720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60020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100" b="1">
                <a:solidFill>
                  <a:srgbClr val="1B2A4A"/>
                </a:solidFill>
                <a:latin typeface="Georgia"/>
              </a:defRPr>
            </a:pPr>
            <a:r>
              <a:t>Actividades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011680"/>
            <a:ext cx="182880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000" b="0">
                <a:solidFill>
                  <a:srgbClr val="1E1B18"/>
                </a:solidFill>
                <a:latin typeface="Calibri"/>
              </a:defRPr>
            </a:pPr>
            <a:r>
              <a:t>Desarrollo, Onboarding, Soporte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46304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463040"/>
            <a:ext cx="2103120" cy="45720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160020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100" b="1">
                <a:solidFill>
                  <a:srgbClr val="1B2A4A"/>
                </a:solidFill>
                <a:latin typeface="Georgia"/>
              </a:defRPr>
            </a:pPr>
            <a:r>
              <a:t>Propuesta de Valor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011680"/>
            <a:ext cx="182880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000" b="0">
                <a:solidFill>
                  <a:srgbClr val="1E1B18"/>
                </a:solidFill>
                <a:latin typeface="Calibri"/>
              </a:defRPr>
            </a:pPr>
            <a:r>
              <a:t>CRM multi-agente, setup 1 dia, Ley 1581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146304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1463040"/>
            <a:ext cx="2103120" cy="45720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160020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100" b="1">
                <a:solidFill>
                  <a:srgbClr val="1B2A4A"/>
                </a:solidFill>
                <a:latin typeface="Georgia"/>
              </a:defRPr>
            </a:pPr>
            <a:r>
              <a:t>Relacion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011680"/>
            <a:ext cx="182880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000" b="0">
                <a:solidFill>
                  <a:srgbClr val="1E1B18"/>
                </a:solidFill>
                <a:latin typeface="Calibri"/>
              </a:defRPr>
            </a:pPr>
            <a:r>
              <a:t>Onboarding personalizado, soporte WhatsApp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146304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0" y="1463040"/>
            <a:ext cx="2103120" cy="45720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38360" y="160020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100" b="1">
                <a:solidFill>
                  <a:srgbClr val="1B2A4A"/>
                </a:solidFill>
                <a:latin typeface="Georgia"/>
              </a:defRPr>
            </a:pPr>
            <a:r>
              <a:t>Segmentos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2011680"/>
            <a:ext cx="182880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000" b="0">
                <a:solidFill>
                  <a:srgbClr val="1E1B18"/>
                </a:solidFill>
                <a:latin typeface="Calibri"/>
              </a:defRPr>
            </a:pPr>
            <a:r>
              <a:t>Micro-inmobiliarias 1-8 asesores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20624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206240"/>
            <a:ext cx="2103120" cy="45720"/>
          </a:xfrm>
          <a:prstGeom prst="rect">
            <a:avLst/>
          </a:prstGeom>
          <a:solidFill>
            <a:srgbClr val="8B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34340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100" b="1">
                <a:solidFill>
                  <a:srgbClr val="8B2635"/>
                </a:solidFill>
                <a:latin typeface="Georgia"/>
              </a:defRPr>
            </a:pPr>
            <a:r>
              <a:t>Fuentes de Ingreso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754880"/>
            <a:ext cx="182880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000" b="0">
                <a:solidFill>
                  <a:srgbClr val="1E1B18"/>
                </a:solidFill>
                <a:latin typeface="Calibri"/>
              </a:defRPr>
            </a:pPr>
            <a:r>
              <a:t>Suscripcion $89k + add-ons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420624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0" y="4206240"/>
            <a:ext cx="2103120" cy="45720"/>
          </a:xfrm>
          <a:prstGeom prst="rect">
            <a:avLst/>
          </a:prstGeom>
          <a:solidFill>
            <a:srgbClr val="8B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66360" y="434340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100" b="1">
                <a:solidFill>
                  <a:srgbClr val="8B2635"/>
                </a:solidFill>
                <a:latin typeface="Georgia"/>
              </a:defRPr>
            </a:pPr>
            <a:r>
              <a:t>Recursos Clave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66360" y="4754880"/>
            <a:ext cx="182880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000" b="0">
                <a:solidFill>
                  <a:srgbClr val="1E1B18"/>
                </a:solidFill>
                <a:latin typeface="Calibri"/>
              </a:defRPr>
            </a:pPr>
            <a:r>
              <a:t>ASP.NET Core, EF Core, React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420624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315200" y="4206240"/>
            <a:ext cx="2103120" cy="45720"/>
          </a:xfrm>
          <a:prstGeom prst="rect">
            <a:avLst/>
          </a:prstGeom>
          <a:solidFill>
            <a:srgbClr val="8B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52360" y="434340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100" b="1">
                <a:solidFill>
                  <a:srgbClr val="8B2635"/>
                </a:solidFill>
                <a:latin typeface="Georgia"/>
              </a:defRPr>
            </a:pPr>
            <a:r>
              <a:t>Canales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4754880"/>
            <a:ext cx="182880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000" b="0">
                <a:solidFill>
                  <a:srgbClr val="1E1B18"/>
                </a:solidFill>
                <a:latin typeface="Calibri"/>
              </a:defRPr>
            </a:pPr>
            <a:r>
              <a:t>Web app, WhatsApp, Email, Demo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01200" y="420624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01200" y="4206240"/>
            <a:ext cx="2103120" cy="45720"/>
          </a:xfrm>
          <a:prstGeom prst="rect">
            <a:avLst/>
          </a:prstGeom>
          <a:solidFill>
            <a:srgbClr val="8B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38360" y="434340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100" b="1">
                <a:solidFill>
                  <a:srgbClr val="8B2635"/>
                </a:solidFill>
                <a:latin typeface="Georgia"/>
              </a:defRPr>
            </a:pPr>
            <a:r>
              <a:t>Costos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38360" y="4754880"/>
            <a:ext cx="182880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000" b="0">
                <a:solidFill>
                  <a:srgbClr val="1E1B18"/>
                </a:solidFill>
                <a:latin typeface="Calibri"/>
              </a:defRPr>
            </a:pPr>
            <a:r>
              <a:t>Hosting $120-200k/mes, WhatsApp variable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3600" b="1">
                <a:solidFill>
                  <a:srgbClr val="B8960C"/>
                </a:solidFill>
                <a:latin typeface="Georgia"/>
              </a:defRPr>
            </a:pPr>
            <a:r>
              <a:t>Stack Tecnico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029200" cy="2286000"/>
          </a:xfrm>
          <a:prstGeom prst="rect">
            <a:avLst/>
          </a:prstGeom>
          <a:solidFill>
            <a:srgbClr val="15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800" b="1">
                <a:solidFill>
                  <a:srgbClr val="B8960C"/>
                </a:solidFill>
                <a:latin typeface="Georgia"/>
              </a:defRPr>
            </a:pPr>
            <a:r>
              <a:t>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ASP.NET Core 10 Minimal API</a:t>
            </a:r>
          </a:p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Entity Framework Core + Fluent API</a:t>
            </a:r>
          </a:p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PostgreSQL (Npgsql)</a:t>
            </a:r>
          </a:p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JWT Bearer Authentication</a:t>
            </a:r>
          </a:p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CQRS manual (sin MediatR)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463040"/>
            <a:ext cx="5029200" cy="2286000"/>
          </a:xfrm>
          <a:prstGeom prst="rect">
            <a:avLst/>
          </a:prstGeom>
          <a:solidFill>
            <a:srgbClr val="15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800" b="1">
                <a:solidFill>
                  <a:srgbClr val="B8960C"/>
                </a:solidFill>
                <a:latin typeface="Georgia"/>
              </a:defRPr>
            </a:pPr>
            <a: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React + Vite</a:t>
            </a:r>
          </a:p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Responsive Design</a:t>
            </a:r>
          </a:p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Componentes reutilizables</a:t>
            </a:r>
          </a:p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Estado local (Context/Zustand)</a:t>
            </a:r>
          </a:p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HTTP client (fetch/axios)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114800"/>
            <a:ext cx="5029200" cy="2286000"/>
          </a:xfrm>
          <a:prstGeom prst="rect">
            <a:avLst/>
          </a:prstGeom>
          <a:solidFill>
            <a:srgbClr val="15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800" b="1">
                <a:solidFill>
                  <a:srgbClr val="B8960C"/>
                </a:solidFill>
                <a:latin typeface="Georgia"/>
              </a:defRPr>
            </a:pPr>
            <a:r>
              <a:t>Infraestructura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66344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Azure App Service</a:t>
            </a:r>
          </a:p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PostgreSQL Managed</a:t>
            </a:r>
          </a:p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GitHub Actions (CI/CD)</a:t>
            </a:r>
          </a:p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SendGrid (email)</a:t>
            </a:r>
          </a:p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Sentry (monitoreo)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114800"/>
            <a:ext cx="5029200" cy="2286000"/>
          </a:xfrm>
          <a:prstGeom prst="rect">
            <a:avLst/>
          </a:prstGeom>
          <a:solidFill>
            <a:srgbClr val="15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20624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800" b="1">
                <a:solidFill>
                  <a:srgbClr val="B8960C"/>
                </a:solidFill>
                <a:latin typeface="Georgia"/>
              </a:defRPr>
            </a:pPr>
            <a:r>
              <a:t>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66344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xUnit (unit tests)</a:t>
            </a:r>
          </a:p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NSubstitute (mocking)</a:t>
            </a:r>
          </a:p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Integration tests</a:t>
            </a:r>
          </a:p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FluentValidation</a:t>
            </a:r>
          </a:p>
          <a:p>
            <a:pPr>
              <a:spcAft>
                <a:spcPts val="600"/>
              </a:spcAft>
              <a:defRPr sz="1300">
                <a:solidFill>
                  <a:srgbClr val="E8E0CC"/>
                </a:solidFill>
                <a:latin typeface="Calibri"/>
              </a:defRPr>
              <a:buChar char="•"/>
              <a:buClr>
                <a:srgbClr val="B8960C"/>
              </a:buClr>
            </a:pPr>
            <a:r>
              <a:t>Target: &gt; 80% cobertura Domain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8B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Georgia"/>
              </a:defRPr>
            </a:pPr>
            <a:r>
              <a:t>Arquitectura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0">
                <a:solidFill>
                  <a:srgbClr val="E8E0CC"/>
                </a:solidFill>
                <a:latin typeface="Calibri"/>
              </a:defRPr>
            </a:pPr>
            <a:r>
              <a:t>Clean Architecture / Hexagonal — ardalis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280160"/>
            <a:ext cx="5486400" cy="1371600"/>
          </a:xfrm>
          <a:prstGeom prst="rect">
            <a:avLst/>
          </a:prstGeom>
          <a:solidFill>
            <a:srgbClr val="8B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Georgia"/>
              </a:defRPr>
            </a:pPr>
            <a:r>
              <a:t>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783080"/>
            <a:ext cx="49377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100" b="0">
                <a:solidFill>
                  <a:srgbClr val="E8E0CC"/>
                </a:solidFill>
                <a:latin typeface="Calibri"/>
              </a:defRPr>
            </a:pPr>
            <a:r>
              <a:t>Minimal API Controllers</a:t>
            </a:r>
            <a:br/>
            <a:r>
              <a:t>Endpoints REST + JWT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377440"/>
            <a:ext cx="5486400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51460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Georgia"/>
              </a:defRPr>
            </a:pPr>
            <a:r>
              <a:t>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880360"/>
            <a:ext cx="49377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100" b="0">
                <a:solidFill>
                  <a:srgbClr val="E8E0CC"/>
                </a:solidFill>
                <a:latin typeface="Calibri"/>
              </a:defRPr>
            </a:pPr>
            <a:r>
              <a:t>Use Cases + DTOs + Ports (Input)</a:t>
            </a:r>
            <a:br/>
            <a:r>
              <a:t>CQRS manual, Validacion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474720"/>
            <a:ext cx="5486400" cy="1188720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61188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Georgia"/>
              </a:defRPr>
            </a:pPr>
            <a: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977640"/>
            <a:ext cx="49377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100" b="0">
                <a:solidFill>
                  <a:srgbClr val="E8E0CC"/>
                </a:solidFill>
                <a:latin typeface="Calibri"/>
              </a:defRPr>
            </a:pPr>
            <a:r>
              <a:t>Entities + Value Objects + Ports (Output)</a:t>
            </a:r>
            <a:br/>
            <a:r>
              <a:t>Cero dependencias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572000"/>
            <a:ext cx="5486400" cy="11887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709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Georgia"/>
              </a:defRPr>
            </a:pPr>
            <a:r>
              <a:t>Infrastructure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074920"/>
            <a:ext cx="49377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100" b="0">
                <a:solidFill>
                  <a:srgbClr val="E8E0CC"/>
                </a:solidFill>
                <a:latin typeface="Calibri"/>
              </a:defRPr>
            </a:pPr>
            <a:r>
              <a:t>EF Core + Repos + Email + WhatsApp</a:t>
            </a:r>
            <a:br/>
            <a:r>
              <a:t>Adaptadores que implementan 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94360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000" b="0">
                <a:solidFill>
                  <a:srgbClr val="64748B"/>
                </a:solidFill>
                <a:latin typeface="Calibri"/>
              </a:defRPr>
            </a:pPr>
            <a:r>
              <a:t>Dependencia: Api -&gt; Application -&gt; Domain &lt;- Infrastructure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37160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800" b="1">
                <a:solidFill>
                  <a:srgbClr val="1B2A4A"/>
                </a:solidFill>
                <a:latin typeface="Georgia"/>
              </a:defRPr>
            </a:pPr>
            <a:r>
              <a:t>Reglas de Arquitectura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192024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Domain: cero dependencias externas</a:t>
            </a:r>
          </a:p>
          <a:p>
            <a:pPr>
              <a:spcAft>
                <a:spcPts val="600"/>
              </a:spcAft>
              <a:defRPr sz="12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Application: solo depende de Domain</a:t>
            </a:r>
          </a:p>
          <a:p>
            <a:pPr>
              <a:spcAft>
                <a:spcPts val="600"/>
              </a:spcAft>
              <a:defRPr sz="12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Infrastructure: implementa puertos de Domain</a:t>
            </a:r>
          </a:p>
          <a:p>
            <a:pPr>
              <a:spcAft>
                <a:spcPts val="600"/>
              </a:spcAft>
              <a:defRPr sz="12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Api: punto de entrada, wiring via DI nativo</a:t>
            </a:r>
          </a:p>
          <a:p>
            <a:pPr>
              <a:spcAft>
                <a:spcPts val="600"/>
              </a:spcAft>
              <a:defRPr sz="12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Fluent API en Infrastructure (nunca en Domain)</a:t>
            </a:r>
          </a:p>
          <a:p>
            <a:pPr>
              <a:spcAft>
                <a:spcPts val="600"/>
              </a:spcAft>
              <a:defRPr sz="12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CQRS manual: ICommandHandler&lt;T,R&gt;</a:t>
            </a:r>
          </a:p>
          <a:p>
            <a:pPr>
              <a:spcAft>
                <a:spcPts val="600"/>
              </a:spcAft>
              <a:defRPr sz="12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Nada se elimina: baja logica con auditoria</a:t>
            </a:r>
          </a:p>
          <a:p>
            <a:pPr>
              <a:spcAft>
                <a:spcPts val="600"/>
              </a:spcAft>
              <a:defRPr sz="12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Todo lead requiere autorizacion Ley 1581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8B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Georgia"/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0">
                <a:solidFill>
                  <a:srgbClr val="E8E0CC"/>
                </a:solidFill>
                <a:latin typeface="Calibri"/>
              </a:defRPr>
            </a:pPr>
            <a:r>
              <a:t>16 semanas — 4 fases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651760" cy="4937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651760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Georgia"/>
              </a:defRPr>
            </a:pPr>
            <a:r>
              <a:t>Fase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2377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000" b="0">
                <a:solidFill>
                  <a:srgbClr val="E8E0CC"/>
                </a:solidFill>
                <a:latin typeface="Calibri"/>
              </a:defRPr>
            </a:pPr>
            <a:r>
              <a:t>Semanas 1-4 — Fundacion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77440"/>
            <a:ext cx="2377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1B2A4A"/>
              </a:buClr>
            </a:pPr>
            <a:r>
              <a:t>Diseno de dominio</a:t>
            </a:r>
          </a:p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1B2A4A"/>
              </a:buClr>
            </a:pPr>
            <a:r>
              <a:t>Arquitectura Clean</a:t>
            </a:r>
          </a:p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1B2A4A"/>
              </a:buClr>
            </a:pPr>
            <a:r>
              <a:t>EF Core + PostgreSQL</a:t>
            </a:r>
          </a:p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1B2A4A"/>
              </a:buClr>
            </a:pPr>
            <a:r>
              <a:t>CRUD basico</a:t>
            </a:r>
          </a:p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1B2A4A"/>
              </a:buClr>
            </a:pPr>
            <a:r>
              <a:t>JWT Auth</a:t>
            </a:r>
          </a:p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1B2A4A"/>
              </a:buClr>
            </a:pPr>
            <a:r>
              <a:t>Tests unitarios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463040"/>
            <a:ext cx="2651760" cy="4937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463040"/>
            <a:ext cx="2651760" cy="731520"/>
          </a:xfrm>
          <a:prstGeom prst="rect">
            <a:avLst/>
          </a:prstGeom>
          <a:solidFill>
            <a:srgbClr val="8B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508760"/>
            <a:ext cx="2377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Georgia"/>
              </a:defRPr>
            </a:pPr>
            <a:r>
              <a:t>Fase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828800"/>
            <a:ext cx="2377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000" b="0">
                <a:solidFill>
                  <a:srgbClr val="E8E0CC"/>
                </a:solidFill>
                <a:latin typeface="Calibri"/>
              </a:defRPr>
            </a:pPr>
            <a:r>
              <a:t>Semanas 5-8 —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77440"/>
            <a:ext cx="2377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Kanban visual</a:t>
            </a:r>
          </a:p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Asignacion de leads</a:t>
            </a:r>
          </a:p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Dashboard basico</a:t>
            </a:r>
          </a:p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Filtros y busqueda</a:t>
            </a:r>
          </a:p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8B2635"/>
              </a:buClr>
            </a:pPr>
            <a:r>
              <a:t>Tests de integracion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463040"/>
            <a:ext cx="2651760" cy="4937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463040"/>
            <a:ext cx="2651760" cy="731520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508760"/>
            <a:ext cx="2377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Georgia"/>
              </a:defRPr>
            </a:pPr>
            <a:r>
              <a:t>Fase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2377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000" b="0">
                <a:solidFill>
                  <a:srgbClr val="E8E0CC"/>
                </a:solidFill>
                <a:latin typeface="Calibri"/>
              </a:defRPr>
            </a:pPr>
            <a:r>
              <a:t>Semanas 9-12 — Cumplimiento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377440"/>
            <a:ext cx="2377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1A3A1A"/>
              </a:buClr>
            </a:pPr>
            <a:r>
              <a:t>Ley 1581 (autorizacion)</a:t>
            </a:r>
          </a:p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1A3A1A"/>
              </a:buClr>
            </a:pPr>
            <a:r>
              <a:t>Politica de tratamiento</a:t>
            </a:r>
          </a:p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1A3A1A"/>
              </a:buClr>
            </a:pPr>
            <a:r>
              <a:t>Registro RNBD</a:t>
            </a:r>
          </a:p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1A3A1A"/>
              </a:buClr>
            </a:pPr>
            <a:r>
              <a:t>Notificaciones email</a:t>
            </a:r>
          </a:p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1A3A1A"/>
              </a:buClr>
            </a:pPr>
            <a:r>
              <a:t>Frontend React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463040"/>
            <a:ext cx="2651760" cy="4937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463040"/>
            <a:ext cx="2651760" cy="7315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508760"/>
            <a:ext cx="2377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Georgia"/>
              </a:defRPr>
            </a:pPr>
            <a:r>
              <a:t>Fase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1828800"/>
            <a:ext cx="2377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000" b="0">
                <a:solidFill>
                  <a:srgbClr val="E8E0CC"/>
                </a:solidFill>
                <a:latin typeface="Calibri"/>
              </a:defRPr>
            </a:pPr>
            <a:r>
              <a:t>Semanas 13-16 — Pulido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377440"/>
            <a:ext cx="2377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64748B"/>
              </a:buClr>
            </a:pPr>
            <a:r>
              <a:t>UI/UX responsive</a:t>
            </a:r>
          </a:p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64748B"/>
              </a:buClr>
            </a:pPr>
            <a:r>
              <a:t>Performance</a:t>
            </a:r>
          </a:p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64748B"/>
              </a:buClr>
            </a:pPr>
            <a:r>
              <a:t>Documentacion</a:t>
            </a:r>
          </a:p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64748B"/>
              </a:buClr>
            </a:pPr>
            <a:r>
              <a:t>Deploy Azure</a:t>
            </a:r>
          </a:p>
          <a:p>
            <a:pPr>
              <a:spcAft>
                <a:spcPts val="600"/>
              </a:spcAft>
              <a:defRPr sz="1100">
                <a:solidFill>
                  <a:srgbClr val="1E1B18"/>
                </a:solidFill>
                <a:latin typeface="Calibri"/>
              </a:defRPr>
              <a:buChar char="•"/>
              <a:buClr>
                <a:srgbClr val="64748B"/>
              </a:buClr>
            </a:pPr>
            <a:r>
              <a:t>Demo con LYC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8B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Georgia"/>
              </a:defRPr>
            </a:pPr>
            <a:r>
              <a:t>Estimacion de Costos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0">
                <a:solidFill>
                  <a:srgbClr val="E8E0CC"/>
                </a:solidFill>
                <a:latin typeface="Calibri"/>
              </a:defRPr>
            </a:pPr>
            <a:r>
              <a:t>Costos operativos y proyeccion de ingresos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800" b="1">
                <a:solidFill>
                  <a:srgbClr val="1B2A4A"/>
                </a:solidFill>
                <a:latin typeface="Georgia"/>
              </a:defRPr>
            </a:pPr>
            <a:r>
              <a:t>Costos Operativos Mensuales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1E1B18"/>
                </a:solidFill>
                <a:latin typeface="Calibri"/>
              </a:defRPr>
            </a:pPr>
            <a:r>
              <a:t>Hosting Azure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05740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200" b="0">
                <a:solidFill>
                  <a:srgbClr val="8B2635"/>
                </a:solidFill>
                <a:latin typeface="Calibri"/>
              </a:defRPr>
            </a:pPr>
            <a:r>
              <a:t>$120k-$200k COP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1E1B18"/>
                </a:solidFill>
                <a:latin typeface="Calibri"/>
              </a:defRPr>
            </a:pPr>
            <a:r>
              <a:t>Dominio 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4688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200" b="0">
                <a:solidFill>
                  <a:srgbClr val="8B2635"/>
                </a:solidFill>
                <a:latin typeface="Calibri"/>
              </a:defRPr>
            </a:pPr>
            <a:r>
              <a:t>~$4k COP/mes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1E1B18"/>
                </a:solidFill>
                <a:latin typeface="Calibri"/>
              </a:defRPr>
            </a:pPr>
            <a:r>
              <a:t>WhatsApp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88036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200" b="0">
                <a:solidFill>
                  <a:srgbClr val="8B2635"/>
                </a:solidFill>
                <a:latin typeface="Calibri"/>
              </a:defRPr>
            </a:pPr>
            <a:r>
              <a:t>Variable por conversacion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9184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1E1B18"/>
                </a:solidFill>
                <a:latin typeface="Calibri"/>
              </a:defRPr>
            </a:pPr>
            <a:r>
              <a:t>Email (SendGrid)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9184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200" b="0">
                <a:solidFill>
                  <a:srgbClr val="8B2635"/>
                </a:solidFill>
                <a:latin typeface="Calibri"/>
              </a:defRPr>
            </a:pPr>
            <a:r>
              <a:t>$0-$15k COP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0332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1E1B18"/>
                </a:solidFill>
                <a:latin typeface="Calibri"/>
              </a:defRPr>
            </a:pPr>
            <a:r>
              <a:t>Monitoreo (Sentry)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70332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200" b="0">
                <a:solidFill>
                  <a:srgbClr val="8B2635"/>
                </a:solidFill>
                <a:latin typeface="Calibri"/>
              </a:defRPr>
            </a:pPr>
            <a:r>
              <a:t>$0-$20k COP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069080"/>
            <a:ext cx="502920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11480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$125k-$240k COP/mes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800" b="1">
                <a:solidFill>
                  <a:srgbClr val="1B2A4A"/>
                </a:solidFill>
                <a:latin typeface="Georgia"/>
              </a:defRPr>
            </a:pPr>
            <a:r>
              <a:t>Proyeccion Ingresos (Semestre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05740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1E1B18"/>
                </a:solidFill>
                <a:latin typeface="Calibri"/>
              </a:defRPr>
            </a:pPr>
            <a:r>
              <a:t>Mes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205740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64748B"/>
                </a:solidFill>
                <a:latin typeface="Calibri"/>
              </a:defRPr>
            </a:pPr>
            <a:r>
              <a:t>1 cliente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057400"/>
            <a:ext cx="1645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200" b="1">
                <a:solidFill>
                  <a:srgbClr val="8B2635"/>
                </a:solidFill>
                <a:latin typeface="Calibri"/>
              </a:defRPr>
            </a:pPr>
            <a:r>
              <a:t>$308k COP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46888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1E1B18"/>
                </a:solidFill>
                <a:latin typeface="Calibri"/>
              </a:defRPr>
            </a:pPr>
            <a:r>
              <a:t>Mes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246888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64748B"/>
                </a:solidFill>
                <a:latin typeface="Calibri"/>
              </a:defRPr>
            </a:pPr>
            <a:r>
              <a:t>2 clientes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468880"/>
            <a:ext cx="1645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200" b="1">
                <a:solidFill>
                  <a:srgbClr val="8B2635"/>
                </a:solidFill>
                <a:latin typeface="Calibri"/>
              </a:defRPr>
            </a:pPr>
            <a:r>
              <a:t>$466k COP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88036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1E1B18"/>
                </a:solidFill>
                <a:latin typeface="Calibri"/>
              </a:defRPr>
            </a:pPr>
            <a:r>
              <a:t>Mes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288036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64748B"/>
                </a:solidFill>
                <a:latin typeface="Calibri"/>
              </a:defRPr>
            </a:pPr>
            <a:r>
              <a:t>3 clientes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880360"/>
            <a:ext cx="1645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200" b="1">
                <a:solidFill>
                  <a:srgbClr val="8B2635"/>
                </a:solidFill>
                <a:latin typeface="Calibri"/>
              </a:defRPr>
            </a:pPr>
            <a:r>
              <a:t>$624k COP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29184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1E1B18"/>
                </a:solidFill>
                <a:latin typeface="Calibri"/>
              </a:defRPr>
            </a:pPr>
            <a:r>
              <a:t>Mes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329184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64748B"/>
                </a:solidFill>
                <a:latin typeface="Calibri"/>
              </a:defRPr>
            </a:pPr>
            <a:r>
              <a:t>5 clientes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3291840"/>
            <a:ext cx="1645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200" b="1">
                <a:solidFill>
                  <a:srgbClr val="8B2635"/>
                </a:solidFill>
                <a:latin typeface="Calibri"/>
              </a:defRPr>
            </a:pPr>
            <a:r>
              <a:t>$1.09M COP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70332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1E1B18"/>
                </a:solidFill>
                <a:latin typeface="Calibri"/>
              </a:defRPr>
            </a:pPr>
            <a:r>
              <a:t>Mes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370332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64748B"/>
                </a:solidFill>
                <a:latin typeface="Calibri"/>
              </a:defRPr>
            </a:pPr>
            <a:r>
              <a:t>7 clientes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3703320"/>
            <a:ext cx="1645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200" b="1">
                <a:solidFill>
                  <a:srgbClr val="8B2635"/>
                </a:solidFill>
                <a:latin typeface="Calibri"/>
              </a:defRPr>
            </a:pPr>
            <a:r>
              <a:t>$1.41M COP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11480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1E1B18"/>
                </a:solidFill>
                <a:latin typeface="Calibri"/>
              </a:defRPr>
            </a:pPr>
            <a:r>
              <a:t>Mes 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411480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64748B"/>
                </a:solidFill>
                <a:latin typeface="Calibri"/>
              </a:defRPr>
            </a:pPr>
            <a:r>
              <a:t>10 clientes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4114800"/>
            <a:ext cx="1645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  <a:defRPr sz="1200" b="1">
                <a:solidFill>
                  <a:srgbClr val="8B2635"/>
                </a:solidFill>
                <a:latin typeface="Calibri"/>
              </a:defRPr>
            </a:pPr>
            <a:r>
              <a:t>$2.03M COP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8B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Georgia"/>
              </a:defRPr>
            </a:pPr>
            <a:r>
              <a:t>Fuera de Alcance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0">
                <a:solidFill>
                  <a:srgbClr val="E8E0CC"/>
                </a:solidFill>
                <a:latin typeface="Calibri"/>
              </a:defRPr>
            </a:pPr>
            <a:r>
              <a:t>Decisiones de exclusacion para el semestre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30352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4864" cy="1280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846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1">
                <a:solidFill>
                  <a:srgbClr val="1B2A4A"/>
                </a:solidFill>
                <a:latin typeface="Georgia"/>
              </a:defRPr>
            </a:pPr>
            <a:r>
              <a:t>Pasarela de pagos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846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64748B"/>
                </a:solidFill>
                <a:latin typeface="Calibri"/>
              </a:defRPr>
            </a:pPr>
            <a:r>
              <a:t>Complejidad regulatoria (Ley 1258/2008) — Fase 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530352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645920"/>
            <a:ext cx="54864" cy="1280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783080"/>
            <a:ext cx="4846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1">
                <a:solidFill>
                  <a:srgbClr val="1B2A4A"/>
                </a:solidFill>
                <a:latin typeface="Georgia"/>
              </a:defRPr>
            </a:pPr>
            <a:r>
              <a:t>Contratos digitales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48840"/>
            <a:ext cx="4846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64748B"/>
                </a:solidFill>
                <a:latin typeface="Calibri"/>
              </a:defRPr>
            </a:pPr>
            <a:r>
              <a:t>Requiere firmas digitales (DocuSign) — Fase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200400"/>
            <a:ext cx="530352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200400"/>
            <a:ext cx="54864" cy="1280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337560"/>
            <a:ext cx="4846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1">
                <a:solidFill>
                  <a:srgbClr val="1B2A4A"/>
                </a:solidFill>
                <a:latin typeface="Georgia"/>
              </a:defRPr>
            </a:pPr>
            <a:r>
              <a:t>App movil nativa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703320"/>
            <a:ext cx="4846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64748B"/>
                </a:solidFill>
                <a:latin typeface="Calibri"/>
              </a:defRPr>
            </a:pPr>
            <a:r>
              <a:t>React Native/Flutter demanda stack adicional — PWA temporal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200400"/>
            <a:ext cx="530352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200400"/>
            <a:ext cx="54864" cy="1280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337560"/>
            <a:ext cx="4846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1">
                <a:solidFill>
                  <a:srgbClr val="1B2A4A"/>
                </a:solidFill>
                <a:latin typeface="Georgia"/>
              </a:defRPr>
            </a:pPr>
            <a:r>
              <a:t>Integracion portales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703320"/>
            <a:ext cx="4846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64748B"/>
                </a:solidFill>
                <a:latin typeface="Calibri"/>
              </a:defRPr>
            </a:pPr>
            <a:r>
              <a:t>Ciencuadras/Properati requieren acuerdos comerciales — Fase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754880"/>
            <a:ext cx="530352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754880"/>
            <a:ext cx="54864" cy="1280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892040"/>
            <a:ext cx="4846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1">
                <a:solidFill>
                  <a:srgbClr val="1B2A4A"/>
                </a:solidFill>
                <a:latin typeface="Georgia"/>
              </a:defRPr>
            </a:pPr>
            <a:r>
              <a:t>Multi-idioma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257800"/>
            <a:ext cx="4846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64748B"/>
                </a:solidFill>
                <a:latin typeface="Calibri"/>
              </a:defRPr>
            </a:pPr>
            <a:r>
              <a:t>Mercado target es hispanohablante — ingles/pt-BR en fase futura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4754880"/>
            <a:ext cx="530352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4754880"/>
            <a:ext cx="54864" cy="1280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4892040"/>
            <a:ext cx="4846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400" b="1">
                <a:solidFill>
                  <a:srgbClr val="1B2A4A"/>
                </a:solidFill>
                <a:latin typeface="Georgia"/>
              </a:defRPr>
            </a:pPr>
            <a:r>
              <a:t>Multi-tenant completo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257800"/>
            <a:ext cx="4846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  <a:defRPr sz="1200" b="0">
                <a:solidFill>
                  <a:srgbClr val="64748B"/>
                </a:solidFill>
                <a:latin typeface="Calibri"/>
              </a:defRPr>
            </a:pPr>
            <a:r>
              <a:t>Una instancia por cliente — shared infrastructure en fase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5600" b="1">
                <a:solidFill>
                  <a:srgbClr val="B8960C"/>
                </a:solidFill>
                <a:latin typeface="Georgia"/>
              </a:defRPr>
            </a:pPr>
            <a:r>
              <a:t>Gracias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926080"/>
            <a:ext cx="2103120" cy="27432"/>
          </a:xfrm>
          <a:prstGeom prst="rect">
            <a:avLst/>
          </a:prstGeom>
          <a:solidFill>
            <a:srgbClr val="B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29184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Enlyce — CRM Inmobiliario para micro-inmobiliarias colombianas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1400" b="0">
                <a:solidFill>
                  <a:srgbClr val="64748B"/>
                </a:solidFill>
                <a:latin typeface="Calibri"/>
              </a:defRPr>
            </a:pPr>
            <a:r>
              <a:t>Ingenieria de Software — Agosto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0292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Aft>
                <a:spcPts val="0"/>
              </a:spcAft>
              <a:defRPr sz="2400" b="0">
                <a:solidFill>
                  <a:srgbClr val="E8E0CC"/>
                </a:solidFill>
                <a:latin typeface="Georgia"/>
              </a:defRPr>
            </a:pPr>
            <a:r>
              <a:t>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