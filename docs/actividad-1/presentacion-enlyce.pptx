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FB3FF"/>
                </a:solidFill>
                <a:latin typeface="Calibri"/>
              </a:rPr>
              <a:t>MODELO DE NEGOCIO  -  ACTIVIDAD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0584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ENLYCE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D8E4F2"/>
                </a:solidFill>
                <a:latin typeface="Calibri"/>
              </a:rPr>
              <a:t>CRM inmobiliario para micro-inmobiliarias colombianas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069080"/>
            <a:ext cx="2743200" cy="45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B9CBE2"/>
                </a:solidFill>
                <a:latin typeface="Calibri"/>
              </a:rPr>
              <a:t>Cliente ancla: L&amp;C Propiedad Raíz  -  Medellín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B9CBE2"/>
                </a:solidFill>
                <a:latin typeface="Calibri"/>
              </a:rPr>
              <a:t>Ingeniería de Software  -  Agosto de 2026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B9CBE2"/>
                </a:solidFill>
                <a:latin typeface="Calibri"/>
              </a:rPr>
              <a:t>ASP.NET Core 10 - PostgreSQL - React  |  172 pruebas automatizadas en verde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Una inmobiliaria que pierde clientes por desorden, no por falta de demanda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B7F"/>
                </a:solidFill>
                <a:latin typeface="Calibri"/>
              </a:rPr>
              <a:t>L&amp;C Propiedad Raíz: 4 asesores, menos de 50 inmuebles activos, cero herramientas de gestión comercial.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64008" cy="13716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450592"/>
            <a:ext cx="2194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540"/>
                </a:solidFill>
                <a:latin typeface="Calibri"/>
              </a:rPr>
              <a:t>Wasi gratis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52928"/>
            <a:ext cx="21945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1 solo usuario para todo el equipo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286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493008" y="2286000"/>
            <a:ext cx="64008" cy="13716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49040" y="2450592"/>
            <a:ext cx="2194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540"/>
                </a:solidFill>
                <a:latin typeface="Calibri"/>
              </a:rPr>
              <a:t>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852928"/>
            <a:ext cx="21945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El lead vive en el celular de quien lo contesto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2286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345936" y="2286000"/>
            <a:ext cx="64008" cy="13716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01968" y="2450592"/>
            <a:ext cx="2194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540"/>
                </a:solidFill>
                <a:latin typeface="Calibri"/>
              </a:rPr>
              <a:t>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852928"/>
            <a:ext cx="21945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Sin historial, sin etapas, sin responsable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3" y="2286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198863" y="2286000"/>
            <a:ext cx="64008" cy="13716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454895" y="2450592"/>
            <a:ext cx="21945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540"/>
                </a:solidFill>
                <a:latin typeface="Calibri"/>
              </a:rPr>
              <a:t>Ley 1581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5" y="2852928"/>
            <a:ext cx="21945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Cero evidencia de autorización de datos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23360"/>
            <a:ext cx="10881360" cy="17373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05840" y="4251960"/>
            <a:ext cx="10149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540"/>
                </a:solidFill>
                <a:latin typeface="Calibri"/>
              </a:rPr>
              <a:t>Consecuencia medible</a:t>
            </a:r>
          </a:p>
        </p:txBody>
      </p:sp>
      <p:sp>
        <p:nvSpPr>
          <p:cNvPr id="25" name="Oval 24"/>
          <p:cNvSpPr/>
          <p:nvPr/>
        </p:nvSpPr>
        <p:spPr>
          <a:xfrm>
            <a:off x="1005840" y="4754879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98448" y="4663440"/>
            <a:ext cx="987552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Leads que nadie atiende porque nadie es el responsable formal.</a:t>
            </a:r>
          </a:p>
        </p:txBody>
      </p:sp>
      <p:sp>
        <p:nvSpPr>
          <p:cNvPr id="27" name="Oval 26"/>
          <p:cNvSpPr/>
          <p:nvPr/>
        </p:nvSpPr>
        <p:spPr>
          <a:xfrm>
            <a:off x="1005840" y="5102351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98448" y="5010912"/>
            <a:ext cx="987552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Dos asesores llamando al mismo cliente: mala experiencia y conflicto interno.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5449823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98448" y="5358383"/>
            <a:ext cx="987552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Ninguna cifra de productividad: no se sabe quien convierte ni cuanto tarda.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LA PROPUESTA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Enlyce ordena el negocio, no solo lo digitaliza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6FEB"/>
                </a:solidFill>
                <a:latin typeface="Calibri"/>
              </a:rPr>
              <a:t>"El CRM con el que una micro-inmobiliaria colombiana deja de perder leads."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64008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6112" y="245059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540"/>
                </a:solidFill>
                <a:latin typeface="Calibri"/>
              </a:rPr>
              <a:t>Multi-asesor desde el dia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52928"/>
            <a:ext cx="30175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Cada lead tiene un único responsable. Nadie se pisa el cliente.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64008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53712" y="245059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540"/>
                </a:solidFill>
                <a:latin typeface="Calibri"/>
              </a:rPr>
              <a:t>Pipeline Kanban 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852928"/>
            <a:ext cx="30175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Contacto, Visita, Propuesta, Negociación y Cierre en un tablero.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28600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955279" y="2286000"/>
            <a:ext cx="64008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11311" y="245059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540"/>
                </a:solidFill>
                <a:latin typeface="Calibri"/>
              </a:rPr>
              <a:t>Alertas de seguimiento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1" y="2852928"/>
            <a:ext cx="30175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El lead olvidado se convierte en una tarea visible, no en una pérdida.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64008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6112" y="423367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540"/>
                </a:solidFill>
                <a:latin typeface="Calibri"/>
              </a:rPr>
              <a:t>Ley 1581 integrada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636008"/>
            <a:ext cx="30175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Consentimiento obligatorio, política versionada y auditoría completa.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06908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297680" y="4069080"/>
            <a:ext cx="64008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53712" y="423367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540"/>
                </a:solidFill>
                <a:latin typeface="Calibri"/>
              </a:rPr>
              <a:t>Operativo en menos de 24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636008"/>
            <a:ext cx="30175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Implantación, migración y capacitación el mismo dia.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06908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955279" y="4069080"/>
            <a:ext cx="64008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11311" y="423367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540"/>
                </a:solidFill>
                <a:latin typeface="Calibri"/>
              </a:rPr>
              <a:t>Precio intermedio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1" y="4636008"/>
            <a:ext cx="30175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~$158.000/mes: ni gratis sin valor ni costoso e inaccesible.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MODELADO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Los cinco componentes del modelado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48256" cy="2377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04825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2048256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1. PROCESOS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17373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Secuencias de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actividades que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generan valor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5" y="2103120"/>
            <a:ext cx="2048256" cy="2377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871215" y="2103120"/>
            <a:ext cx="204825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871215" y="2176272"/>
            <a:ext cx="2048256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ACTIVIDADES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788920"/>
            <a:ext cx="17373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Tareas concretas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dentro de cada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proceso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2" y="2103120"/>
            <a:ext cx="2048256" cy="2377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102352" y="2103120"/>
            <a:ext cx="2048256" cy="4572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02352" y="2176272"/>
            <a:ext cx="2048256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3. REGLAS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2788920"/>
            <a:ext cx="17373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Normas que el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sistema obliga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a cumplir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2103120"/>
            <a:ext cx="2048256" cy="2377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333488" y="2103120"/>
            <a:ext cx="2048256" cy="457200"/>
          </a:xfrm>
          <a:prstGeom prst="rect">
            <a:avLst/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33488" y="2176272"/>
            <a:ext cx="2048256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4. ACTORES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7" y="2788920"/>
            <a:ext cx="17373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Personas y sistemas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que interactuan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con el negocio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4624" y="2103120"/>
            <a:ext cx="2048256" cy="2377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564624" y="2103120"/>
            <a:ext cx="2048256" cy="45720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64624" y="2176272"/>
            <a:ext cx="2048256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5. OBJETOS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3" y="2788920"/>
            <a:ext cx="173736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Información que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circula por los</a:t>
            </a:r>
          </a:p>
          <a:p>
            <a:pPr algn="ctr">
              <a:spcAft>
                <a:spcPts val="1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procesos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2540"/>
                </a:solidFill>
                <a:latin typeface="Calibri"/>
              </a:rPr>
              <a:t>En Enlyce estos cinco componentes no se quedan en el papel: cada uno tiene su reflejo directo en el código. Los procesos son casos de uso, las reglas viven en el dominio, los actores son roles autenticados y los objetos son entidades persistidas con auditoría.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1. PROCESOS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Proceso central: del primer contacto al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1" y="2212848"/>
            <a:ext cx="12801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Registro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del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2316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Calibri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2848" y="201168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86000" y="2212848"/>
            <a:ext cx="12801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Consentimiento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Ley 1581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42316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Calibr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5615" y="201168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58768" y="2212848"/>
            <a:ext cx="12801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Asignación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 un asesor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242316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Calibri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8384" y="201168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31536" y="2212848"/>
            <a:ext cx="12801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Contacto e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interacciones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242316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Calibr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1152" y="201168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04304" y="2212848"/>
            <a:ext cx="12801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Visita al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inmueble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42316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Calibri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19" y="201168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77072" y="2212848"/>
            <a:ext cx="12801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Propuesta y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negociación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42316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6FEB"/>
                </a:solidFill>
                <a:latin typeface="Calibri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76688" y="201168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49840" y="2212848"/>
            <a:ext cx="12801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Cierre</a:t>
            </a:r>
          </a:p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(ganado/perdido)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540"/>
                </a:solidFill>
                <a:latin typeface="Calibri"/>
              </a:rPr>
              <a:t>Procesos de apoyo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080" y="3840480"/>
          <a:ext cx="1088135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957"/>
                <a:gridCol w="5143915"/>
                <a:gridCol w="3165486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Proceso de apoyo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 hace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Valor que genera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Gestión de inmuebles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Alta, actualización y baja lógica con propietario asociado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Catálogo único y confiable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Control de seguimiento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Detecta leads sin gestión y genera alertas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Ningún lead se pierde por olvido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Cumplimiento Ley 1581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Consentimiento, política, derechos del titular y auditoría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Evita sanciones de la 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Administración de usuarios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Asesores, autenticación y control de roles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Cada quien ve lo que le toca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2. ACTIVIDADES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Cada módulo del sistema es un grupo de actividades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64008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540"/>
                </a:solidFill>
                <a:latin typeface="Calibri"/>
              </a:rPr>
              <a:t>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04288"/>
            <a:ext cx="3017520" cy="59435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B7F"/>
                </a:solidFill>
                <a:latin typeface="Calibri"/>
              </a:rPr>
              <a:t>Registrar, capturar consentimiento, consultar, actualizar, dar de baja lógica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64008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53712" y="190195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540"/>
                </a:solidFill>
                <a:latin typeface="Calibri"/>
              </a:rPr>
              <a:t>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04288"/>
            <a:ext cx="3017520" cy="59435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B7F"/>
                </a:solidFill>
                <a:latin typeface="Calibri"/>
              </a:rPr>
              <a:t>Consultar tablero, mover de etapa, registrar transición, ver historial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73736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955279" y="1737360"/>
            <a:ext cx="64008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11311" y="190195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540"/>
                </a:solidFill>
                <a:latin typeface="Calibri"/>
              </a:rPr>
              <a:t>Asignación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304288"/>
            <a:ext cx="3017520" cy="59435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B7F"/>
                </a:solidFill>
                <a:latin typeface="Calibri"/>
              </a:rPr>
              <a:t>Asignar a un asesor, reasignar, consultar carga de trabajo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0040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200400"/>
            <a:ext cx="64008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6112" y="336499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540"/>
                </a:solidFill>
                <a:latin typeface="Calibri"/>
              </a:rPr>
              <a:t>Interacciones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767328"/>
            <a:ext cx="3017520" cy="59435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B7F"/>
                </a:solidFill>
                <a:latin typeface="Calibri"/>
              </a:rPr>
              <a:t>Registrar llamada, mensaje, correo o nota; ver historial del lead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20040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97680" y="3200400"/>
            <a:ext cx="64008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53712" y="336499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540"/>
                </a:solidFill>
                <a:latin typeface="Calibri"/>
              </a:rPr>
              <a:t>Visitas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767328"/>
            <a:ext cx="3017520" cy="59435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B7F"/>
                </a:solidFill>
                <a:latin typeface="Calibri"/>
              </a:rPr>
              <a:t>Agendar, confirmar, reprogramar, marcar realizada o cancelada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20040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955279" y="3200400"/>
            <a:ext cx="64008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11311" y="3364992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540"/>
                </a:solidFill>
                <a:latin typeface="Calibri"/>
              </a:rPr>
              <a:t>Alertas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1" y="3767328"/>
            <a:ext cx="3017520" cy="59435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B7F"/>
                </a:solidFill>
                <a:latin typeface="Calibri"/>
              </a:rPr>
              <a:t>Detectar leads sin seguimiento, notificar y marcar como atendida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6344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40080" y="4663440"/>
            <a:ext cx="64008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6112" y="4828031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540"/>
                </a:solidFill>
                <a:latin typeface="Calibri"/>
              </a:rPr>
              <a:t>Inmuebles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230368"/>
            <a:ext cx="3017520" cy="59435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B7F"/>
                </a:solidFill>
                <a:latin typeface="Calibri"/>
              </a:rPr>
              <a:t>Publicar, asociar propietario, actualizar precio y estado, retirar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66344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297680" y="4663440"/>
            <a:ext cx="64008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53712" y="4828031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540"/>
                </a:solidFill>
                <a:latin typeface="Calibri"/>
              </a:rPr>
              <a:t>Datos personales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5230368"/>
            <a:ext cx="3017520" cy="59435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B7F"/>
                </a:solidFill>
                <a:latin typeface="Calibri"/>
              </a:rPr>
              <a:t>Otorgar y revocar consentimiento, publicar política, atender al titular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466344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955279" y="4663440"/>
            <a:ext cx="64008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11311" y="4828031"/>
            <a:ext cx="30175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2540"/>
                </a:solidFill>
                <a:latin typeface="Calibri"/>
              </a:rPr>
              <a:t>Seguridad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1" y="5230368"/>
            <a:ext cx="3017520" cy="59435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B7F"/>
                </a:solidFill>
                <a:latin typeface="Calibri"/>
              </a:rPr>
              <a:t>Iniciar y cerrar sesión, validar rol, registrar el evento en auditoría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9 módulos implementados y expuestos como endpoints de la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3. REGLAS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Las reglas no son un manual: el sistema las obliga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474720" cy="4572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31089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LEGALES (LEY 1581)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3017520" cy="3383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Ningún lead se crea sin autorización previa, expresa e informada.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La autorización guarda fecha, medio, finalidad y versión de política.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El titular puede revocar en cualquier momento.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Derechos de conocer, actualizar, rectificar y suprimir.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La política es pública, versionada y debe estar vigente.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Toda operación sobre datos queda auditada.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47472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0" y="1773936"/>
            <a:ext cx="31089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COMERCIALES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017520" cy="3383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Todo lead tiene exactamente un asesor responsable.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Un lead solo avanza por las etapas definidas, sin saltarse ninguna.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Un lead perdido exige motivo de descarte registrado.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Un lead sin interacción en el plazo definido genera alerta automática.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Solo se agenda visita sobre inmueble disponible y lead activo.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E8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3474720" cy="457200"/>
          </a:xfrm>
          <a:prstGeom prst="rect">
            <a:avLst/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5320" y="1773936"/>
            <a:ext cx="31089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INTEGRIDAD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31720"/>
            <a:ext cx="3017520" cy="3383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Nada se elimina físicamente: toda baja es lógica y auditada.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El correo del asesor es único en el sistema.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Las contraseñas se guardan con hash bcrypt, nunca en texto plano.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Cada petición se autentica con token en cookie HttpOnly y se autoriza por rol.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0F2540"/>
                </a:solidFill>
                <a:latin typeface="Calibri"/>
              </a:rPr>
              <a:t>- Un inmueble con visitas pendientes no se puede retirar.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4. ACTORES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Quien interactua con el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5943600"/>
              </a:tblGrid>
              <a:tr h="467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Actor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 en el negocio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Asesor comercial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Humano - interno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Registra y atiende leads, agenda visitas, mueve el pipeline. Usuario principal.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Administrador o gerente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Humano - interno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Gestiona asesores, revisa productividad, configura etapas y consulta auditoría.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Lead o cliente interesado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Humano - externo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Titular de los datos. Pide información, visita inmuebles y compra o arrienda.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Propietario del inmueble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Humano - externo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Entrega el inmueble en gestión a la inmobiliaria.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Oficial de datos personales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Humano - interno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Atiende solicitudes del titular y vela por la Ley 1581.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Superintendencia de Industria y Comercio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Organización - externa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Vigila el tratamiento de datos y exige el registro en el RNBD.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WhatsApp Business API (Meta)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Sistema - externo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Canal de entrada de leads y de comunicación.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Motor de alertas de Enlyce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Sistema - interno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540"/>
                          </a:solidFill>
                          <a:latin typeface="Calibri"/>
                        </a:rPr>
                        <a:t>Detecta leads sin seguimiento y notifica sin intervención humana.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5. OBJETOS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La información que circula por el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0428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Nombre, contacto, fuente, etapa, asesor, estado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39312" y="190195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Asesor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0428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Nombre, correo, hash de contraseña, rol, activo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3736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26480" y="173736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82512" y="190195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Inmueble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0428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Código, tipo, dirección, precio, área, estado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73736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869680" y="173736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25711" y="190195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Propietario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30428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Nombre, documento, contacto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1546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0080" y="315468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6112" y="331927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Interacción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72160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Lead, tipo, fecha, descripción, asesor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1546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383280" y="315468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39312" y="331927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Visita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372160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Lead, inmueble, fecha, estado, observaciones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1546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126480" y="315468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82512" y="331927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Etapa de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72160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Nombre, orden, condiciones de avance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31546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869680" y="315468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25711" y="331927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Transición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5711" y="372160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Lead, etapa origen y destino, fecha, asesor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572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40080" y="457200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96112" y="473659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Consentimiento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13892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Titular, finalidad, medio, fecha, versión, estado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4572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383280" y="457200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639312" y="473659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Política de tratamiento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9312" y="513892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Versión, contenido, fecha de vigencia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4572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126480" y="457200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382512" y="473659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Registro de auditoría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513892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Usuario, acción, entidad, fecha, valores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457200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869680" y="4572000"/>
            <a:ext cx="64008" cy="123444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25711" y="4736592"/>
            <a:ext cx="2148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2540"/>
                </a:solidFill>
                <a:latin typeface="Calibri"/>
              </a:rPr>
              <a:t>Alerta de seguimiento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1" y="5138928"/>
            <a:ext cx="21488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B7F"/>
                </a:solidFill>
                <a:latin typeface="Calibri"/>
              </a:rPr>
              <a:t>Lead, asesor, motivo, fecha, estado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6FEB"/>
                </a:solidFill>
                <a:latin typeface="Calibri"/>
              </a:rPr>
              <a:t>Cada objeto es una entidad del dominio, sin dependencias externas y cubierta por pruebas unitarias.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EL MODELO DE NEGOCIO EN UNA HOJA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Business Model Canvas de Enlyce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148840" cy="2926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1719072"/>
            <a:ext cx="1965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SOCIOS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75688"/>
            <a:ext cx="1929384" cy="1508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2540"/>
                </a:solidFill>
                <a:latin typeface="Calibri"/>
              </a:rPr>
              <a:t>LYC (cliente ancla), Azure/.NET, Meta WhatsApp API, correo transaccional, universidad, comunidad open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691640"/>
            <a:ext cx="2148840" cy="9326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880360" y="1691640"/>
            <a:ext cx="2148840" cy="2926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990088" y="1719072"/>
            <a:ext cx="1965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ACTIVIDADES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075688"/>
            <a:ext cx="1929384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2540"/>
                </a:solidFill>
                <a:latin typeface="Calibri"/>
              </a:rPr>
              <a:t>Desarrollo del CRM, implantación en 24 h, capacitación, soporte, cumplimiento Ley 1581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724912"/>
            <a:ext cx="2148840" cy="9326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880360" y="2724912"/>
            <a:ext cx="2148840" cy="2926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90088" y="2752344"/>
            <a:ext cx="1965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RECURSOS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08960"/>
            <a:ext cx="1929384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2540"/>
                </a:solidFill>
                <a:latin typeface="Calibri"/>
              </a:rPr>
              <a:t>Plataforma propia, arquitectura limpia, módulo de cumplimiento, datos de LYC, equipo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691640"/>
            <a:ext cx="214884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120640" y="1691640"/>
            <a:ext cx="2148840" cy="292608"/>
          </a:xfrm>
          <a:prstGeom prst="rect">
            <a:avLst/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30368" y="1719072"/>
            <a:ext cx="1965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PROPUESTA DE VALOR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075688"/>
            <a:ext cx="1929384" cy="1508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2540"/>
                </a:solidFill>
                <a:latin typeface="Calibri"/>
              </a:rPr>
              <a:t>Multi-asesor real, pipeline Kanban, alertas de seguimiento, Ley 1581 integrada, listo en 24 h, precio intermedio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1691640"/>
            <a:ext cx="2148840" cy="9326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360920" y="1691640"/>
            <a:ext cx="2148840" cy="2926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70648" y="1719072"/>
            <a:ext cx="1965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RELACIÓN CON CLIENTES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2075688"/>
            <a:ext cx="1929384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2540"/>
                </a:solidFill>
                <a:latin typeface="Calibri"/>
              </a:rPr>
              <a:t>Implantación acompanada, soporte por WhatsApp, co-creación con el cliente ancla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2724912"/>
            <a:ext cx="2148840" cy="9326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360920" y="2724912"/>
            <a:ext cx="2148840" cy="2926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70648" y="2752344"/>
            <a:ext cx="1965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CANALES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3108960"/>
            <a:ext cx="1929384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2540"/>
                </a:solidFill>
                <a:latin typeface="Calibri"/>
              </a:rPr>
              <a:t>App web, WhatsApp Business, correo, demostración, referidos del gremio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691640"/>
            <a:ext cx="192024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601200" y="1691640"/>
            <a:ext cx="1920240" cy="2926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710928" y="1719072"/>
            <a:ext cx="1737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SEGMENTOS DE CLIENTES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2075688"/>
            <a:ext cx="1700784" cy="1508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2540"/>
                </a:solidFill>
                <a:latin typeface="Calibri"/>
              </a:rPr>
              <a:t>Inmobiliarias de 1 a 8 asesores, menos de 50 inmuebles, Medellín y área metropolitana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79476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40080" y="3794760"/>
            <a:ext cx="5303520" cy="292608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49808" y="3822192"/>
            <a:ext cx="5120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ESTRUCTURA DE COSTOS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178808"/>
            <a:ext cx="5084064" cy="960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2540"/>
                </a:solidFill>
                <a:latin typeface="Calibri"/>
              </a:rPr>
              <a:t>Hosting $120k-$200k/mes, dominio, WhatsApp por conversación, correo y monitoreo, horas de soporte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794760"/>
            <a:ext cx="53035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217920" y="3794760"/>
            <a:ext cx="5303520" cy="292608"/>
          </a:xfrm>
          <a:prstGeom prst="rect">
            <a:avLst/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27648" y="3822192"/>
            <a:ext cx="5120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FUENTES DE INGRESO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178808"/>
            <a:ext cx="5084064" cy="960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2540"/>
                </a:solidFill>
                <a:latin typeface="Calibri"/>
              </a:rPr>
              <a:t>Suscripción $89k + $19k por asesor extra, implantación $150k, complementos de WhatsApp, portal y reportes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32D2D"/>
                </a:solidFill>
                <a:latin typeface="Calibri"/>
              </a:rPr>
              <a:t>Restricción transversal: la Ley 1581 de 2012 exige autorización previa, expresa e informada. Ningún lead se crea sin consentimiento registrado.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SEGMENTO DE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A quien le sirve Enlyce (y a quien no)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64008" cy="2286000"/>
          </a:xfrm>
          <a:prstGeom prst="rect">
            <a:avLst/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540"/>
                </a:solidFill>
                <a:latin typeface="Calibri"/>
              </a:rPr>
              <a:t>Cliente ideal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58568"/>
            <a:ext cx="4846320" cy="1600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 Inmobiliaria independiente de Medellín y su área metropolitana.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 De 1 a 8 asesores comerciales.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 Menos de 50 inmuebles activos.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 Hoy usa Wasi gratis, Excel y WhatsApp sin orden.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 Factura entre $100 M y $2.000 M COP al 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64008" cy="228600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73952" y="1856232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540"/>
                </a:solidFill>
                <a:latin typeface="Calibri"/>
              </a:rPr>
              <a:t>No es 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258568"/>
            <a:ext cx="4846320" cy="1600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 Inmobiliarias de más de 15 asesores: les sirve Tokko.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 Constructoras grandes con ERP propio.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 Portales de clasificados.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 Quien no quiere cambiar de herramienta ni por acompanamiento.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540"/>
                </a:solidFill>
                <a:latin typeface="Calibri"/>
              </a:rPr>
              <a:t>Segmentos secundarios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709159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617720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2540"/>
                </a:solidFill>
                <a:latin typeface="Calibri"/>
              </a:rPr>
              <a:t>Asesores independientes que están a punto de formar equipo.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93207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01768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2540"/>
                </a:solidFill>
                <a:latin typeface="Calibri"/>
              </a:rPr>
              <a:t>Franquicias locales de inmobiliarias grandes que necesitan autonomia.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477255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385816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2540"/>
                </a:solidFill>
                <a:latin typeface="Calibri"/>
              </a:rPr>
              <a:t>Constructoras pequeñas con venta directa de unidades nuevas.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FUENTES DE INGRESO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Como gana dinero Enlyce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Precio (COP)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Suscripción base por equipo (hasta 3 asesores)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$89.000 / 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Asesor adicional (máximo 8)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$19.000 / mes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Implantación inicial (migración + capacitación)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$150.000 único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Complemento WhatsApp Business API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$45.000 / mes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Complemento portal web público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$35.000 / 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Complemento de reportes avanzados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$25.000 / mes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645920"/>
            <a:ext cx="4023360" cy="2560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498079" y="1645920"/>
            <a:ext cx="64008" cy="2560320"/>
          </a:xfrm>
          <a:prstGeom prst="rect">
            <a:avLst/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54111" y="1810512"/>
            <a:ext cx="35661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540"/>
                </a:solidFill>
                <a:latin typeface="Calibri"/>
              </a:rPr>
              <a:t>Caso tipico: LYC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1" y="2212848"/>
            <a:ext cx="3566160" cy="18745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4 asesores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Suscripción base      $89.000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1 asesor adicional    $19.000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Implantación (3 meses) $50.000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-------------------------------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Total mensual        $158.000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540"/>
                </a:solidFill>
                <a:latin typeface="Calibri"/>
              </a:rPr>
              <a:t>Proyección del primer semestre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846320"/>
          <a:ext cx="108813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Clientes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MRR (COP)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158k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316k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474k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790k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1.106k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1.580k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Estructura de costos y punto de equilibrio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194560"/>
              </a:tblGrid>
              <a:tr h="3918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Costo mensual (COP)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Hosting Azure + PostgreSQL administrado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$120.000 - $200.000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Dominio y certificados (SSL gratuito)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~$4.000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WhatsApp Business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Variable por conversación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Correo transaccional y monitoreo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$0 - $35.000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Desarrollo (96 h/semestre)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Costo hundido académico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Total fijo estimado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$125.000 - $240.000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691640"/>
            <a:ext cx="4023360" cy="2743200"/>
          </a:xfrm>
          <a:prstGeom prst="roundRect">
            <a:avLst>
              <a:gd name="adj" fmla="val 8000"/>
            </a:avLst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498079" y="1691640"/>
            <a:ext cx="64008" cy="274320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54111" y="1856232"/>
            <a:ext cx="35661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540"/>
                </a:solidFill>
                <a:latin typeface="Calibri"/>
              </a:rPr>
              <a:t>Punto de equilibrio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1" y="2258568"/>
            <a:ext cx="3566160" cy="2057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Con un solo cliente pagando $158.000/mes el modelo ya cubre el piso de costos.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Desde el segundo cliente el margen es positivo, porque la infraestructura es compartida y el costo marginal por cliente adicional tiende a cero.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B7F"/>
                </a:solidFill>
                <a:latin typeface="Calibri"/>
              </a:rPr>
              <a:t>Es un modelo dirigido por el valor, no por el costo.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88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Riesgo asumido: el costo real de hosting solo se confirma en producción. La estimación se basa en precios de lista de Azure y no ha sido validada con tráfico real; se marcara como comprobada al desplegar.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COMPETENCIA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Por que no basta con lo que ya existe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94560"/>
                <a:gridCol w="1920240"/>
                <a:gridCol w="201168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Enlyce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Wasi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Tokko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Witei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Multi-asesor real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Si, es el núcleo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No (1 usuario)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Si, pero costoso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Pipeline Kanban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Cumplimiento Ley 1581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Alertas de seguimiento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Si, automaticas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Tiempo de implantación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Menos de 24 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Inmediato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1 a 2 semanas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Días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Precio (4 asesores)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~$158.000/mes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Gratis limitado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$313k - $667k/mes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EUR 25-65/mes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Soporte local en Colombia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F2540"/>
                </a:solidFill>
                <a:latin typeface="Calibri"/>
              </a:rPr>
              <a:t>El hueco del mercado esta entre el gratuito que no sirve para un equipo y el caro que una micro-inmobiliaria no puede pagar. Enlyce ocupa exactamente ese espacio, y además resuelve el cumplimiento normativo que nadie cubre.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ESTADO ACTUAL DEL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El modelo ya esta construido, no solo planteado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2606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26060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9CBE2"/>
                </a:solidFill>
                <a:latin typeface="Calibri"/>
              </a:rPr>
              <a:t>pruebas automatizadas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B9CBE2"/>
                </a:solidFill>
                <a:latin typeface="Calibri"/>
              </a:rPr>
              <a:t>en verde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29000" y="1810512"/>
            <a:ext cx="2606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95728"/>
            <a:ext cx="26060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9CBE2"/>
                </a:solidFill>
                <a:latin typeface="Calibri"/>
              </a:rPr>
              <a:t>módulos funcionales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B9CBE2"/>
                </a:solidFill>
                <a:latin typeface="Calibri"/>
              </a:rPr>
              <a:t>en la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0" y="1810512"/>
            <a:ext cx="2606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95728"/>
            <a:ext cx="26060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9CBE2"/>
                </a:solidFill>
                <a:latin typeface="Calibri"/>
              </a:rPr>
              <a:t>capas de arquitectura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B9CBE2"/>
                </a:solidFill>
                <a:latin typeface="Calibri"/>
              </a:rPr>
              <a:t>limpia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06839" y="1810512"/>
            <a:ext cx="26060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2395728"/>
            <a:ext cx="26060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9CBE2"/>
                </a:solidFill>
                <a:latin typeface="Calibri"/>
              </a:rPr>
              <a:t>de leads con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B9CBE2"/>
                </a:solidFill>
                <a:latin typeface="Calibri"/>
              </a:rPr>
              <a:t>consentimiento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540"/>
                </a:solidFill>
                <a:latin typeface="Calibri"/>
              </a:rPr>
              <a:t>Que esta implementado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794759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3703320"/>
            <a:ext cx="51206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Leads, inmuebles y propietarios con baja lógica.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178807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087368"/>
            <a:ext cx="51206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Pipeline con etapas, transiciones y asignación.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562855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4471416"/>
            <a:ext cx="51206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Interacciones y visitas por lead.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946903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4855464"/>
            <a:ext cx="51206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Alertas de seguimiento automaticas.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3794759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10528" y="3703320"/>
            <a:ext cx="51206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Autenticación JWT con roles y cookie HttpOnly.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178807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10528" y="4087368"/>
            <a:ext cx="51206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Contraseñas con hash bcrypt.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4562855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10528" y="4471416"/>
            <a:ext cx="51206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Consentimiento, política y auditoría (Ley 1581).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4946903"/>
            <a:ext cx="109728" cy="1097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10528" y="4855464"/>
            <a:ext cx="51206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F2540"/>
                </a:solidFill>
                <a:latin typeface="Calibri"/>
              </a:rPr>
              <a:t>Frontend React: login, dashboard, pipeline, leads.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ROADMAP DEL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Lo que sigue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82296" cy="960120"/>
          </a:xfrm>
          <a:prstGeom prst="rect">
            <a:avLst/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5943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540"/>
                </a:solidFill>
                <a:latin typeface="Calibri"/>
              </a:rPr>
              <a:t>Fase 1  -  Fundación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Dominio, arquitectura limpia, PostgreSQL, CRUD de leads e inmuebles, pruebas de dominio.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011679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784080" y="2084831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COMPLETADA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39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834639"/>
            <a:ext cx="82296" cy="960120"/>
          </a:xfrm>
          <a:prstGeom prst="rect">
            <a:avLst/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962656"/>
            <a:ext cx="5943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540"/>
                </a:solidFill>
                <a:latin typeface="Calibri"/>
              </a:rPr>
              <a:t>Fase 2  - 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59"/>
            <a:ext cx="8046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Kanban, asignación por asesor, interacciones, visitas, alertas y pruebas de integración.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3108959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1B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784080" y="3182111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COMPLETADA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82296" cy="960120"/>
          </a:xfrm>
          <a:prstGeom prst="rect">
            <a:avLst/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4059935"/>
            <a:ext cx="5943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540"/>
                </a:solidFill>
                <a:latin typeface="Calibri"/>
              </a:rPr>
              <a:t>Fase 3  -  Cumplimiento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8046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Consentimiento, política versionada, derechos del titular, auditoría y frontend React.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420624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B4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84080" y="4279392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EN CURSO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40080" y="5029200"/>
            <a:ext cx="82296" cy="960120"/>
          </a:xfrm>
          <a:prstGeom prst="rect">
            <a:avLst/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" y="5157216"/>
            <a:ext cx="5943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540"/>
                </a:solidFill>
                <a:latin typeface="Calibri"/>
              </a:rPr>
              <a:t>Fase 4  -  Entrega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32120"/>
            <a:ext cx="8046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Reportes, despliegue en la nube, documentación y demostración con datos reales de LYC.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53035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784080" y="5376672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PENDIENTE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Calibri"/>
              </a:rPr>
              <a:t>Fuera de alcance este semestre: pasarela de pagos, contratos digitales, app móvil nativa e integración con portales.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F6FEB"/>
                </a:solidFill>
                <a:latin typeface="Calibri"/>
              </a:rPr>
              <a:t>MÉTRICAS DE ÉXITO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2540"/>
                </a:solidFill>
                <a:latin typeface="Calibri"/>
              </a:rPr>
              <a:t>Como sabremos que el modelo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6B7F"/>
                </a:solidFill>
                <a:latin typeface="Calibri"/>
              </a:rPr>
              <a:t>Enlyce - CRM Inmobiliario  |  L&amp;C Propiedad Raíz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4846320"/>
              </a:tblGrid>
              <a:tr h="44413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Meta del semestre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 que importa</a:t>
                      </a:r>
                    </a:p>
                  </a:txBody>
                  <a:tcPr anchor="ctr">
                    <a:solidFill>
                      <a:srgbClr val="0F254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LYC operando en Enlyce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Cliente ancla activo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Valida que el modelo resuelve un dolor real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Leads registrados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Más de 50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Prueba que el sistema se usa a diario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Tiempo de primera respuesta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Menos de 2 horas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Es el factor que más influye en la conversión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Leads con consentimiento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Cumplimiento de la Ley 1581 sin excepciones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Pruebas automatizadas en verde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100 % (hoy 172)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Garantiza que las reglas del negocio se cumplen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Disponibilidad del servicio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Más del 99 %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540"/>
                          </a:solidFill>
                          <a:latin typeface="Calibri"/>
                        </a:rPr>
                        <a:t>Un CRM caido es una venta pérdida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6FEB"/>
                </a:solidFill>
                <a:latin typeface="Calibri"/>
              </a:rPr>
              <a:t>Ninguna de estas métricas es de vanidad: todas se miden dentro del sistema y ninguna depende de una opinion.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El problema de LYC no es conseguir clientes:</a:t>
            </a:r>
          </a:p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es no perderlos por desorden.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657600"/>
            <a:ext cx="2743200" cy="45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100584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D8E4F2"/>
                </a:solidFill>
                <a:latin typeface="Calibri"/>
              </a:rPr>
              <a:t>Enlyce convierte ese desorden en procesos, reglas y responsables.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D8E4F2"/>
                </a:solidFill>
                <a:latin typeface="Calibri"/>
              </a:rPr>
              <a:t>Y lo hace por menos de lo que cuesta perder un solo negocio.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FB3FF"/>
                </a:solidFill>
                <a:latin typeface="Calibri"/>
              </a:rPr>
              <a:t>Gracias.  Preguntas.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